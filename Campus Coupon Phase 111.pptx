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Helvetica Now Display Bold" charset="1" panose="020B0804030202020204"/>
      <p:regular r:id="rId31"/>
    </p:embeddedFont>
    <p:embeddedFont>
      <p:font typeface="Helvetica Now Display" charset="1" panose="020B050403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72.png" Type="http://schemas.openxmlformats.org/officeDocument/2006/relationships/image"/><Relationship Id="rId13" Target="../media/image73.png" Type="http://schemas.openxmlformats.org/officeDocument/2006/relationships/image"/><Relationship Id="rId14" Target="../media/image74.png" Type="http://schemas.openxmlformats.org/officeDocument/2006/relationships/image"/><Relationship Id="rId15" Target="../media/image75.png" Type="http://schemas.openxmlformats.org/officeDocument/2006/relationships/image"/><Relationship Id="rId16" Target="../media/image76.pn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sv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14" Target="../media/image107.png" Type="http://schemas.openxmlformats.org/officeDocument/2006/relationships/image"/><Relationship Id="rId15" Target="../media/image108.png" Type="http://schemas.openxmlformats.org/officeDocument/2006/relationships/image"/><Relationship Id="rId16" Target="../media/image109.pn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10.png" Type="http://schemas.openxmlformats.org/officeDocument/2006/relationships/image"/><Relationship Id="rId5" Target="../media/image111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1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svg" Type="http://schemas.openxmlformats.org/officeDocument/2006/relationships/image"/><Relationship Id="rId11" Target="../media/image130.png" Type="http://schemas.openxmlformats.org/officeDocument/2006/relationships/image"/><Relationship Id="rId12" Target="../media/image131.png" Type="http://schemas.openxmlformats.org/officeDocument/2006/relationships/image"/><Relationship Id="rId13" Target="../media/image132.pn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129.pn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3.png" Type="http://schemas.openxmlformats.org/officeDocument/2006/relationships/image"/><Relationship Id="rId3" Target="../media/image134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8.png" Type="http://schemas.openxmlformats.org/officeDocument/2006/relationships/image"/><Relationship Id="rId3" Target="../media/image139.png" Type="http://schemas.openxmlformats.org/officeDocument/2006/relationships/image"/><Relationship Id="rId4" Target="../media/image140.png" Type="http://schemas.openxmlformats.org/officeDocument/2006/relationships/image"/><Relationship Id="rId5" Target="../media/image141.png" Type="http://schemas.openxmlformats.org/officeDocument/2006/relationships/image"/><Relationship Id="rId6" Target="../media/image142.png" Type="http://schemas.openxmlformats.org/officeDocument/2006/relationships/image"/><Relationship Id="rId7" Target="../media/image143.png" Type="http://schemas.openxmlformats.org/officeDocument/2006/relationships/image"/><Relationship Id="rId8" Target="../media/image144.png" Type="http://schemas.openxmlformats.org/officeDocument/2006/relationships/image"/><Relationship Id="rId9" Target="../media/image14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6.png" Type="http://schemas.openxmlformats.org/officeDocument/2006/relationships/image"/><Relationship Id="rId3" Target="../media/image147.png" Type="http://schemas.openxmlformats.org/officeDocument/2006/relationships/image"/><Relationship Id="rId4" Target="../media/image148.png" Type="http://schemas.openxmlformats.org/officeDocument/2006/relationships/image"/><Relationship Id="rId5" Target="../media/image149.png" Type="http://schemas.openxmlformats.org/officeDocument/2006/relationships/image"/><Relationship Id="rId6" Target="../media/image150.png" Type="http://schemas.openxmlformats.org/officeDocument/2006/relationships/image"/><Relationship Id="rId7" Target="../media/image15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2.png" Type="http://schemas.openxmlformats.org/officeDocument/2006/relationships/image"/><Relationship Id="rId11" Target="../media/image153.png" Type="http://schemas.openxmlformats.org/officeDocument/2006/relationships/image"/><Relationship Id="rId12" Target="../media/image154.png" Type="http://schemas.openxmlformats.org/officeDocument/2006/relationships/image"/><Relationship Id="rId13" Target="../media/image155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7572375"/>
            <a:ext cx="16383000" cy="0"/>
          </a:xfrm>
          <a:prstGeom prst="line">
            <a:avLst/>
          </a:prstGeom>
          <a:ln cap="rnd" w="190500">
            <a:solidFill>
              <a:srgbClr val="F4F6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09941" y="3732078"/>
            <a:ext cx="2491575" cy="2796762"/>
            <a:chOff x="0" y="0"/>
            <a:chExt cx="381314" cy="428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152" y="3874409"/>
            <a:ext cx="3033913" cy="2512100"/>
            <a:chOff x="0" y="0"/>
            <a:chExt cx="479869" cy="397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5908" cy="397334"/>
            </a:xfrm>
            <a:custGeom>
              <a:avLst/>
              <a:gdLst/>
              <a:ahLst/>
              <a:cxnLst/>
              <a:rect r="r" b="b" t="t" l="l"/>
              <a:pathLst>
                <a:path h="397334" w="465908">
                  <a:moveTo>
                    <a:pt x="243495" y="0"/>
                  </a:moveTo>
                  <a:lnTo>
                    <a:pt x="33173" y="0"/>
                  </a:lnTo>
                  <a:cubicBezTo>
                    <a:pt x="24375" y="0"/>
                    <a:pt x="15937" y="3495"/>
                    <a:pt x="9716" y="9716"/>
                  </a:cubicBezTo>
                  <a:cubicBezTo>
                    <a:pt x="3495" y="15937"/>
                    <a:pt x="0" y="24375"/>
                    <a:pt x="0" y="33173"/>
                  </a:cubicBezTo>
                  <a:lnTo>
                    <a:pt x="0" y="364161"/>
                  </a:lnTo>
                  <a:cubicBezTo>
                    <a:pt x="0" y="372959"/>
                    <a:pt x="3495" y="381397"/>
                    <a:pt x="9716" y="387618"/>
                  </a:cubicBezTo>
                  <a:cubicBezTo>
                    <a:pt x="15937" y="393839"/>
                    <a:pt x="24375" y="397334"/>
                    <a:pt x="33173" y="397334"/>
                  </a:cubicBezTo>
                  <a:lnTo>
                    <a:pt x="243495" y="397334"/>
                  </a:lnTo>
                  <a:cubicBezTo>
                    <a:pt x="264762" y="397334"/>
                    <a:pt x="285183" y="389010"/>
                    <a:pt x="300389" y="374143"/>
                  </a:cubicBezTo>
                  <a:lnTo>
                    <a:pt x="456149" y="221858"/>
                  </a:lnTo>
                  <a:cubicBezTo>
                    <a:pt x="462390" y="215756"/>
                    <a:pt x="465908" y="207396"/>
                    <a:pt x="465908" y="198667"/>
                  </a:cubicBezTo>
                  <a:cubicBezTo>
                    <a:pt x="465908" y="189939"/>
                    <a:pt x="462390" y="181578"/>
                    <a:pt x="456149" y="175476"/>
                  </a:cubicBezTo>
                  <a:lnTo>
                    <a:pt x="300389" y="23191"/>
                  </a:lnTo>
                  <a:cubicBezTo>
                    <a:pt x="285183" y="8324"/>
                    <a:pt x="264762" y="0"/>
                    <a:pt x="2434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65569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962402" y="3186660"/>
            <a:ext cx="1090837" cy="10908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69607" y="3732078"/>
            <a:ext cx="2491575" cy="2796762"/>
            <a:chOff x="0" y="0"/>
            <a:chExt cx="381314" cy="4280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49922" y="3874409"/>
            <a:ext cx="2410809" cy="2512100"/>
            <a:chOff x="0" y="0"/>
            <a:chExt cx="381314" cy="3973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7622068" y="3186660"/>
            <a:ext cx="1090837" cy="109083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29272" y="3732078"/>
            <a:ext cx="2491575" cy="2796762"/>
            <a:chOff x="0" y="0"/>
            <a:chExt cx="381314" cy="428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809587" y="3874409"/>
            <a:ext cx="2410809" cy="2512100"/>
            <a:chOff x="0" y="0"/>
            <a:chExt cx="381314" cy="3973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4281734" y="3186660"/>
            <a:ext cx="1090837" cy="109083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39774" y="3732078"/>
            <a:ext cx="2491575" cy="2796762"/>
            <a:chOff x="0" y="0"/>
            <a:chExt cx="381314" cy="4280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20089" y="3874409"/>
            <a:ext cx="2410809" cy="2512100"/>
            <a:chOff x="0" y="0"/>
            <a:chExt cx="381314" cy="3973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4292235" y="3186660"/>
            <a:ext cx="1090837" cy="109083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99439" y="3732078"/>
            <a:ext cx="2491575" cy="2796762"/>
            <a:chOff x="0" y="0"/>
            <a:chExt cx="381314" cy="4280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79755" y="3874409"/>
            <a:ext cx="2410809" cy="2512100"/>
            <a:chOff x="0" y="0"/>
            <a:chExt cx="381314" cy="3973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0951901" y="3186660"/>
            <a:ext cx="1090837" cy="109083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06959" y="7334250"/>
            <a:ext cx="476250" cy="47625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236791" y="7334250"/>
            <a:ext cx="476250" cy="476250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570541" y="7334250"/>
            <a:ext cx="476250" cy="476250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904291" y="7334250"/>
            <a:ext cx="476250" cy="476250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238041" y="7334250"/>
            <a:ext cx="476250" cy="476250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AutoShape 63" id="63"/>
          <p:cNvSpPr/>
          <p:nvPr/>
        </p:nvSpPr>
        <p:spPr>
          <a:xfrm flipH="true" flipV="true">
            <a:off x="2138191" y="6635383"/>
            <a:ext cx="6892" cy="698867"/>
          </a:xfrm>
          <a:prstGeom prst="line">
            <a:avLst/>
          </a:prstGeom>
          <a:ln cap="flat" w="38100">
            <a:solidFill>
              <a:srgbClr val="145F4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 flipV="true">
            <a:off x="5468024" y="6635383"/>
            <a:ext cx="6892" cy="698867"/>
          </a:xfrm>
          <a:prstGeom prst="line">
            <a:avLst/>
          </a:prstGeom>
          <a:ln cap="flat" w="38100">
            <a:solidFill>
              <a:srgbClr val="2BA14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V="true">
            <a:off x="8808666" y="6635383"/>
            <a:ext cx="0" cy="698867"/>
          </a:xfrm>
          <a:prstGeom prst="line">
            <a:avLst/>
          </a:prstGeom>
          <a:ln cap="flat" w="38100">
            <a:solidFill>
              <a:srgbClr val="AFD24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12142416" y="6635383"/>
            <a:ext cx="0" cy="698867"/>
          </a:xfrm>
          <a:prstGeom prst="line">
            <a:avLst/>
          </a:prstGeom>
          <a:ln cap="flat" w="38100">
            <a:solidFill>
              <a:srgbClr val="FD862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15476166" y="6635383"/>
            <a:ext cx="0" cy="698867"/>
          </a:xfrm>
          <a:prstGeom prst="line">
            <a:avLst/>
          </a:prstGeom>
          <a:ln cap="flat" w="38100">
            <a:solidFill>
              <a:srgbClr val="BD214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8" id="68"/>
          <p:cNvSpPr/>
          <p:nvPr/>
        </p:nvSpPr>
        <p:spPr>
          <a:xfrm flipH="false" flipV="false" rot="0">
            <a:off x="1191541" y="3392015"/>
            <a:ext cx="632701" cy="496453"/>
          </a:xfrm>
          <a:custGeom>
            <a:avLst/>
            <a:gdLst/>
            <a:ahLst/>
            <a:cxnLst/>
            <a:rect r="r" b="b" t="t" l="l"/>
            <a:pathLst>
              <a:path h="496453" w="632701">
                <a:moveTo>
                  <a:pt x="0" y="0"/>
                </a:moveTo>
                <a:lnTo>
                  <a:pt x="632701" y="0"/>
                </a:lnTo>
                <a:lnTo>
                  <a:pt x="632701" y="496453"/>
                </a:lnTo>
                <a:lnTo>
                  <a:pt x="0" y="496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4599769" y="3516199"/>
            <a:ext cx="475243" cy="438780"/>
          </a:xfrm>
          <a:custGeom>
            <a:avLst/>
            <a:gdLst/>
            <a:ahLst/>
            <a:cxnLst/>
            <a:rect r="r" b="b" t="t" l="l"/>
            <a:pathLst>
              <a:path h="438780" w="475243">
                <a:moveTo>
                  <a:pt x="0" y="0"/>
                </a:moveTo>
                <a:lnTo>
                  <a:pt x="475243" y="0"/>
                </a:lnTo>
                <a:lnTo>
                  <a:pt x="475243" y="438779"/>
                </a:lnTo>
                <a:lnTo>
                  <a:pt x="0" y="438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7915404" y="3487023"/>
            <a:ext cx="478136" cy="464496"/>
          </a:xfrm>
          <a:custGeom>
            <a:avLst/>
            <a:gdLst/>
            <a:ahLst/>
            <a:cxnLst/>
            <a:rect r="r" b="b" t="t" l="l"/>
            <a:pathLst>
              <a:path h="464496" w="478136">
                <a:moveTo>
                  <a:pt x="0" y="0"/>
                </a:moveTo>
                <a:lnTo>
                  <a:pt x="478136" y="0"/>
                </a:lnTo>
                <a:lnTo>
                  <a:pt x="478136" y="464496"/>
                </a:lnTo>
                <a:lnTo>
                  <a:pt x="0" y="464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137320" y="3546459"/>
            <a:ext cx="696315" cy="464790"/>
          </a:xfrm>
          <a:custGeom>
            <a:avLst/>
            <a:gdLst/>
            <a:ahLst/>
            <a:cxnLst/>
            <a:rect r="r" b="b" t="t" l="l"/>
            <a:pathLst>
              <a:path h="464790" w="696315">
                <a:moveTo>
                  <a:pt x="0" y="0"/>
                </a:moveTo>
                <a:lnTo>
                  <a:pt x="696315" y="0"/>
                </a:lnTo>
                <a:lnTo>
                  <a:pt x="696315" y="464790"/>
                </a:lnTo>
                <a:lnTo>
                  <a:pt x="0" y="464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571791" y="3487026"/>
            <a:ext cx="488632" cy="448453"/>
          </a:xfrm>
          <a:custGeom>
            <a:avLst/>
            <a:gdLst/>
            <a:ahLst/>
            <a:cxnLst/>
            <a:rect r="r" b="b" t="t" l="l"/>
            <a:pathLst>
              <a:path h="448453" w="488632">
                <a:moveTo>
                  <a:pt x="0" y="0"/>
                </a:moveTo>
                <a:lnTo>
                  <a:pt x="488633" y="0"/>
                </a:lnTo>
                <a:lnTo>
                  <a:pt x="488633" y="448453"/>
                </a:lnTo>
                <a:lnTo>
                  <a:pt x="0" y="44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CAMPUS COUPON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609031" y="1866052"/>
            <a:ext cx="9069938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Phase 1: Planning, Requirements &amp; Feasibility  |  ITC327W – Work-Integrated Learning  |  Assessment 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49959" y="4493903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Institution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49959" y="509528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Central University of Technology – Welkom Campus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679792" y="4493903"/>
            <a:ext cx="2418559" cy="44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</a:t>
            </a:r>
          </a:p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Team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679792" y="5095281"/>
            <a:ext cx="2190345" cy="4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Prominent Programmers (Pty) Ltd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339458" y="4493903"/>
            <a:ext cx="2418559" cy="44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Attendance</a:t>
            </a:r>
          </a:p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Verification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339458" y="509528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QR-based verified attendance for campus events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009625" y="4493903"/>
            <a:ext cx="2418559" cy="44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Module</a:t>
            </a:r>
          </a:p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Context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009625" y="509528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ITC327W Work-Integrated Learning – Academic Assessment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669291" y="4493903"/>
            <a:ext cx="2418559" cy="44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Rewards</a:t>
            </a:r>
          </a:p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System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669291" y="509528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Points-based coupon wallet redeemable at CUT Cafeteria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85569" y="4277866"/>
            <a:ext cx="12916863" cy="3323032"/>
            <a:chOff x="0" y="0"/>
            <a:chExt cx="17222484" cy="4430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87666" cy="4430710"/>
            </a:xfrm>
            <a:custGeom>
              <a:avLst/>
              <a:gdLst/>
              <a:ahLst/>
              <a:cxnLst/>
              <a:rect r="r" b="b" t="t" l="l"/>
              <a:pathLst>
                <a:path h="4430710" w="8687666">
                  <a:moveTo>
                    <a:pt x="0" y="0"/>
                  </a:moveTo>
                  <a:lnTo>
                    <a:pt x="8687666" y="0"/>
                  </a:lnTo>
                  <a:lnTo>
                    <a:pt x="8687666" y="4430710"/>
                  </a:lnTo>
                  <a:lnTo>
                    <a:pt x="0" y="4430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8534818" y="0"/>
              <a:ext cx="8687666" cy="4430710"/>
            </a:xfrm>
            <a:custGeom>
              <a:avLst/>
              <a:gdLst/>
              <a:ahLst/>
              <a:cxnLst/>
              <a:rect r="r" b="b" t="t" l="l"/>
              <a:pathLst>
                <a:path h="4430710" w="8687666">
                  <a:moveTo>
                    <a:pt x="0" y="4430710"/>
                  </a:moveTo>
                  <a:lnTo>
                    <a:pt x="8687666" y="4430710"/>
                  </a:lnTo>
                  <a:lnTo>
                    <a:pt x="8687666" y="0"/>
                  </a:lnTo>
                  <a:lnTo>
                    <a:pt x="0" y="0"/>
                  </a:lnTo>
                  <a:lnTo>
                    <a:pt x="0" y="443071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450009" y="5483012"/>
            <a:ext cx="695941" cy="730146"/>
          </a:xfrm>
          <a:custGeom>
            <a:avLst/>
            <a:gdLst/>
            <a:ahLst/>
            <a:cxnLst/>
            <a:rect r="r" b="b" t="t" l="l"/>
            <a:pathLst>
              <a:path h="730146" w="695941">
                <a:moveTo>
                  <a:pt x="0" y="0"/>
                </a:moveTo>
                <a:lnTo>
                  <a:pt x="695942" y="0"/>
                </a:lnTo>
                <a:lnTo>
                  <a:pt x="695942" y="730147"/>
                </a:lnTo>
                <a:lnTo>
                  <a:pt x="0" y="730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25358" y="5365936"/>
            <a:ext cx="623708" cy="1080750"/>
          </a:xfrm>
          <a:custGeom>
            <a:avLst/>
            <a:gdLst/>
            <a:ahLst/>
            <a:cxnLst/>
            <a:rect r="r" b="b" t="t" l="l"/>
            <a:pathLst>
              <a:path h="1080750" w="623708">
                <a:moveTo>
                  <a:pt x="0" y="0"/>
                </a:moveTo>
                <a:lnTo>
                  <a:pt x="623708" y="0"/>
                </a:lnTo>
                <a:lnTo>
                  <a:pt x="623708" y="1080750"/>
                </a:lnTo>
                <a:lnTo>
                  <a:pt x="0" y="1080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79580" y="5595248"/>
            <a:ext cx="635654" cy="634065"/>
          </a:xfrm>
          <a:custGeom>
            <a:avLst/>
            <a:gdLst/>
            <a:ahLst/>
            <a:cxnLst/>
            <a:rect r="r" b="b" t="t" l="l"/>
            <a:pathLst>
              <a:path h="634065" w="635654">
                <a:moveTo>
                  <a:pt x="0" y="0"/>
                </a:moveTo>
                <a:lnTo>
                  <a:pt x="635654" y="0"/>
                </a:lnTo>
                <a:lnTo>
                  <a:pt x="635654" y="634065"/>
                </a:lnTo>
                <a:lnTo>
                  <a:pt x="0" y="6340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86167" y="5621540"/>
            <a:ext cx="570183" cy="696294"/>
          </a:xfrm>
          <a:custGeom>
            <a:avLst/>
            <a:gdLst/>
            <a:ahLst/>
            <a:cxnLst/>
            <a:rect r="r" b="b" t="t" l="l"/>
            <a:pathLst>
              <a:path h="696294" w="570183">
                <a:moveTo>
                  <a:pt x="0" y="0"/>
                </a:moveTo>
                <a:lnTo>
                  <a:pt x="570182" y="0"/>
                </a:lnTo>
                <a:lnTo>
                  <a:pt x="570182" y="696293"/>
                </a:lnTo>
                <a:lnTo>
                  <a:pt x="0" y="6962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16475" y="5521286"/>
            <a:ext cx="618809" cy="767223"/>
          </a:xfrm>
          <a:custGeom>
            <a:avLst/>
            <a:gdLst/>
            <a:ahLst/>
            <a:cxnLst/>
            <a:rect r="r" b="b" t="t" l="l"/>
            <a:pathLst>
              <a:path h="767223" w="618809">
                <a:moveTo>
                  <a:pt x="0" y="0"/>
                </a:moveTo>
                <a:lnTo>
                  <a:pt x="618809" y="0"/>
                </a:lnTo>
                <a:lnTo>
                  <a:pt x="618809" y="767223"/>
                </a:lnTo>
                <a:lnTo>
                  <a:pt x="0" y="767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81263" y="5544069"/>
            <a:ext cx="1029081" cy="696143"/>
          </a:xfrm>
          <a:custGeom>
            <a:avLst/>
            <a:gdLst/>
            <a:ahLst/>
            <a:cxnLst/>
            <a:rect r="r" b="b" t="t" l="l"/>
            <a:pathLst>
              <a:path h="696143" w="1029081">
                <a:moveTo>
                  <a:pt x="0" y="0"/>
                </a:moveTo>
                <a:lnTo>
                  <a:pt x="1029081" y="0"/>
                </a:lnTo>
                <a:lnTo>
                  <a:pt x="1029081" y="696143"/>
                </a:lnTo>
                <a:lnTo>
                  <a:pt x="0" y="6961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The Project 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Prominent Programmers (Pty) Ltd – ITC327W Work-Integrated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2223" y="3021864"/>
            <a:ext cx="241855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8"/>
              </a:lnSpc>
            </a:pPr>
            <a:r>
              <a:rPr lang="en-US" b="true" sz="14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Zangwa PEM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27623" y="8019999"/>
            <a:ext cx="241855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8"/>
              </a:lnSpc>
            </a:pPr>
            <a:r>
              <a:rPr lang="en-US" b="true" sz="14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Mokone EK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3197" y="3380009"/>
            <a:ext cx="3216610" cy="4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Project / Requirements Lead</a:t>
            </a:r>
          </a:p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218004524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8597" y="8378144"/>
            <a:ext cx="3216610" cy="4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Supabase / Database Dev</a:t>
            </a:r>
          </a:p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221025681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8086" y="3021864"/>
            <a:ext cx="241855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8"/>
              </a:lnSpc>
            </a:pPr>
            <a:r>
              <a:rPr lang="en-US" b="true" sz="14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Nkambule LG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49060" y="3380009"/>
            <a:ext cx="3216610" cy="4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Flutter / UI Developer</a:t>
            </a:r>
          </a:p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223000859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8423" y="8019999"/>
            <a:ext cx="241855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8"/>
              </a:lnSpc>
            </a:pPr>
            <a:r>
              <a:rPr lang="en-US" b="true" sz="14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Nthako LM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99397" y="8378144"/>
            <a:ext cx="3216610" cy="4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Testing / Documentation</a:t>
            </a:r>
          </a:p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222031189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03949" y="3021864"/>
            <a:ext cx="241855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8"/>
              </a:lnSpc>
            </a:pPr>
            <a:r>
              <a:rPr lang="en-US" b="true" sz="14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Mngxozana 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04923" y="3380009"/>
            <a:ext cx="3216610" cy="4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ASP.NET / API Developer</a:t>
            </a:r>
          </a:p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224022878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69223" y="8019999"/>
            <a:ext cx="241855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8"/>
              </a:lnSpc>
            </a:pPr>
            <a:r>
              <a:rPr lang="en-US" b="true" sz="14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Ngwenya S  |  Mthokonya LR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70198" y="8378144"/>
            <a:ext cx="3216610" cy="4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Administrator (223045887)</a:t>
            </a:r>
          </a:p>
          <a:p>
            <a:pPr algn="ctr" marL="0" indent="0" lvl="0">
              <a:lnSpc>
                <a:spcPts val="1835"/>
              </a:lnSpc>
            </a:pPr>
            <a:r>
              <a:rPr lang="en-US" sz="131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ASP.NET / API Dev (221038861)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795986" y="1567459"/>
            <a:ext cx="1028522" cy="4313157"/>
            <a:chOff x="0" y="0"/>
            <a:chExt cx="423227" cy="1774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27" cy="1774822"/>
            </a:xfrm>
            <a:custGeom>
              <a:avLst/>
              <a:gdLst/>
              <a:ahLst/>
              <a:cxnLst/>
              <a:rect r="r" b="b" t="t" l="l"/>
              <a:pathLst>
                <a:path h="1774822" w="423227">
                  <a:moveTo>
                    <a:pt x="423227" y="0"/>
                  </a:moveTo>
                  <a:lnTo>
                    <a:pt x="423227" y="1774822"/>
                  </a:lnTo>
                  <a:lnTo>
                    <a:pt x="211613" y="1647822"/>
                  </a:lnTo>
                  <a:lnTo>
                    <a:pt x="0" y="1774822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3227" cy="166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6053117" y="2915321"/>
            <a:ext cx="1028522" cy="3798896"/>
            <a:chOff x="0" y="0"/>
            <a:chExt cx="423227" cy="1563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3227" cy="1563208"/>
            </a:xfrm>
            <a:custGeom>
              <a:avLst/>
              <a:gdLst/>
              <a:ahLst/>
              <a:cxnLst/>
              <a:rect r="r" b="b" t="t" l="l"/>
              <a:pathLst>
                <a:path h="1563208" w="423227">
                  <a:moveTo>
                    <a:pt x="423227" y="0"/>
                  </a:moveTo>
                  <a:lnTo>
                    <a:pt x="423227" y="1563208"/>
                  </a:lnTo>
                  <a:lnTo>
                    <a:pt x="211613" y="1436208"/>
                  </a:lnTo>
                  <a:lnTo>
                    <a:pt x="0" y="1563208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23227" cy="1455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6310247" y="4263182"/>
            <a:ext cx="1028522" cy="3284635"/>
            <a:chOff x="0" y="0"/>
            <a:chExt cx="423227" cy="13515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227" cy="1351595"/>
            </a:xfrm>
            <a:custGeom>
              <a:avLst/>
              <a:gdLst/>
              <a:ahLst/>
              <a:cxnLst/>
              <a:rect r="r" b="b" t="t" l="l"/>
              <a:pathLst>
                <a:path h="1351595" w="423227">
                  <a:moveTo>
                    <a:pt x="423227" y="0"/>
                  </a:moveTo>
                  <a:lnTo>
                    <a:pt x="423227" y="1351595"/>
                  </a:lnTo>
                  <a:lnTo>
                    <a:pt x="211613" y="1224595"/>
                  </a:lnTo>
                  <a:lnTo>
                    <a:pt x="0" y="1351595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23227" cy="124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6567377" y="5611044"/>
            <a:ext cx="1028522" cy="2770374"/>
            <a:chOff x="0" y="0"/>
            <a:chExt cx="423227" cy="11399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227" cy="1139982"/>
            </a:xfrm>
            <a:custGeom>
              <a:avLst/>
              <a:gdLst/>
              <a:ahLst/>
              <a:cxnLst/>
              <a:rect r="r" b="b" t="t" l="l"/>
              <a:pathLst>
                <a:path h="1139982" w="423227">
                  <a:moveTo>
                    <a:pt x="423227" y="0"/>
                  </a:moveTo>
                  <a:lnTo>
                    <a:pt x="423227" y="1139982"/>
                  </a:lnTo>
                  <a:lnTo>
                    <a:pt x="211613" y="1012982"/>
                  </a:lnTo>
                  <a:lnTo>
                    <a:pt x="0" y="1139982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23227" cy="1032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6824508" y="6958906"/>
            <a:ext cx="1028522" cy="2256113"/>
            <a:chOff x="0" y="0"/>
            <a:chExt cx="423227" cy="92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3227" cy="928368"/>
            </a:xfrm>
            <a:custGeom>
              <a:avLst/>
              <a:gdLst/>
              <a:ahLst/>
              <a:cxnLst/>
              <a:rect r="r" b="b" t="t" l="l"/>
              <a:pathLst>
                <a:path h="928368" w="423227">
                  <a:moveTo>
                    <a:pt x="423227" y="0"/>
                  </a:moveTo>
                  <a:lnTo>
                    <a:pt x="423227" y="928368"/>
                  </a:lnTo>
                  <a:lnTo>
                    <a:pt x="211613" y="801368"/>
                  </a:lnTo>
                  <a:lnTo>
                    <a:pt x="0" y="928368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23227" cy="820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 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ITC327W Work-Integrated Learning – CUT Welkom Campus Engagement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2575" y="3561160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145F4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52575" y="4651891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2BA14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52575" y="5702009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AFD243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52575" y="6796679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FD8624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52575" y="7891349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BD2141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9668" y="3300528"/>
            <a:ext cx="3607396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b="true" sz="137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Academic Context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9668" y="3678316"/>
            <a:ext cx="3607396" cy="40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</a:pPr>
            <a:r>
              <a:rPr lang="en-US" sz="120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ITC327W Work-Integrated Learning project responding to real CUT Welkom Campus stakeholder needs.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9668" y="4391259"/>
            <a:ext cx="3607396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b="true" sz="137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The Core Problem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49668" y="4769047"/>
            <a:ext cx="3607396" cy="40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</a:pPr>
            <a:r>
              <a:rPr lang="en-US" sz="120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Fragmented event communication leads to low student engagement and unpredictable attendance.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49668" y="5441377"/>
            <a:ext cx="3607396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b="true" sz="137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 Purpose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49668" y="5819165"/>
            <a:ext cx="3607396" cy="40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</a:pPr>
            <a:r>
              <a:rPr lang="en-US" sz="120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Centralise event discovery, RSVP, attendance verification, and rewards in one integrated platform.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49668" y="6536047"/>
            <a:ext cx="3607396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b="true" sz="137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 Basis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9668" y="6913835"/>
            <a:ext cx="3607396" cy="40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</a:pPr>
            <a:r>
              <a:rPr lang="en-US" sz="120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Evidence-based engagement with the Student Development Officer – not assumptions.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9668" y="7630716"/>
            <a:ext cx="3607396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b="true" sz="1372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End-to-End Flow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49668" y="8008504"/>
            <a:ext cx="3607396" cy="40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</a:pPr>
            <a:r>
              <a:rPr lang="en-US" sz="120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CUT Campus → Events → Students → RSVP → Attendance → Rewards → CUT Cafeteria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487948" y="3423006"/>
            <a:ext cx="509588" cy="477121"/>
          </a:xfrm>
          <a:custGeom>
            <a:avLst/>
            <a:gdLst/>
            <a:ahLst/>
            <a:cxnLst/>
            <a:rect r="r" b="b" t="t" l="l"/>
            <a:pathLst>
              <a:path h="477121" w="509588">
                <a:moveTo>
                  <a:pt x="0" y="0"/>
                </a:moveTo>
                <a:lnTo>
                  <a:pt x="509587" y="0"/>
                </a:lnTo>
                <a:lnTo>
                  <a:pt x="509587" y="477120"/>
                </a:lnTo>
                <a:lnTo>
                  <a:pt x="0" y="477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441354" y="6690208"/>
            <a:ext cx="600085" cy="420059"/>
          </a:xfrm>
          <a:custGeom>
            <a:avLst/>
            <a:gdLst/>
            <a:ahLst/>
            <a:cxnLst/>
            <a:rect r="r" b="b" t="t" l="l"/>
            <a:pathLst>
              <a:path h="420059" w="600085">
                <a:moveTo>
                  <a:pt x="0" y="0"/>
                </a:moveTo>
                <a:lnTo>
                  <a:pt x="600085" y="0"/>
                </a:lnTo>
                <a:lnTo>
                  <a:pt x="600085" y="420059"/>
                </a:lnTo>
                <a:lnTo>
                  <a:pt x="0" y="420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429726" y="4577332"/>
            <a:ext cx="477167" cy="459149"/>
          </a:xfrm>
          <a:custGeom>
            <a:avLst/>
            <a:gdLst/>
            <a:ahLst/>
            <a:cxnLst/>
            <a:rect r="r" b="b" t="t" l="l"/>
            <a:pathLst>
              <a:path h="459149" w="477167">
                <a:moveTo>
                  <a:pt x="0" y="0"/>
                </a:moveTo>
                <a:lnTo>
                  <a:pt x="477167" y="0"/>
                </a:lnTo>
                <a:lnTo>
                  <a:pt x="477167" y="459149"/>
                </a:lnTo>
                <a:lnTo>
                  <a:pt x="0" y="459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537988" y="5709053"/>
            <a:ext cx="449814" cy="395274"/>
          </a:xfrm>
          <a:custGeom>
            <a:avLst/>
            <a:gdLst/>
            <a:ahLst/>
            <a:cxnLst/>
            <a:rect r="r" b="b" t="t" l="l"/>
            <a:pathLst>
              <a:path h="395274" w="449814">
                <a:moveTo>
                  <a:pt x="0" y="0"/>
                </a:moveTo>
                <a:lnTo>
                  <a:pt x="449814" y="0"/>
                </a:lnTo>
                <a:lnTo>
                  <a:pt x="449814" y="395274"/>
                </a:lnTo>
                <a:lnTo>
                  <a:pt x="0" y="3952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539487" y="7872762"/>
            <a:ext cx="407080" cy="443360"/>
          </a:xfrm>
          <a:custGeom>
            <a:avLst/>
            <a:gdLst/>
            <a:ahLst/>
            <a:cxnLst/>
            <a:rect r="r" b="b" t="t" l="l"/>
            <a:pathLst>
              <a:path h="443360" w="407080">
                <a:moveTo>
                  <a:pt x="0" y="0"/>
                </a:moveTo>
                <a:lnTo>
                  <a:pt x="407079" y="0"/>
                </a:lnTo>
                <a:lnTo>
                  <a:pt x="407079" y="443360"/>
                </a:lnTo>
                <a:lnTo>
                  <a:pt x="0" y="443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91625" y="595532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0" y="0"/>
                </a:moveTo>
                <a:lnTo>
                  <a:pt x="2185917" y="0"/>
                </a:lnTo>
                <a:lnTo>
                  <a:pt x="2185917" y="2185916"/>
                </a:lnTo>
                <a:lnTo>
                  <a:pt x="0" y="218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910458" y="366976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0" y="0"/>
                </a:moveTo>
                <a:lnTo>
                  <a:pt x="2185917" y="0"/>
                </a:lnTo>
                <a:lnTo>
                  <a:pt x="2185917" y="2185916"/>
                </a:lnTo>
                <a:lnTo>
                  <a:pt x="0" y="2185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910458" y="595532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2185917" y="0"/>
                </a:moveTo>
                <a:lnTo>
                  <a:pt x="0" y="0"/>
                </a:lnTo>
                <a:lnTo>
                  <a:pt x="0" y="2185916"/>
                </a:lnTo>
                <a:lnTo>
                  <a:pt x="2185917" y="2185916"/>
                </a:lnTo>
                <a:lnTo>
                  <a:pt x="21859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9191625" y="366976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2185917" y="0"/>
                </a:moveTo>
                <a:lnTo>
                  <a:pt x="0" y="0"/>
                </a:lnTo>
                <a:lnTo>
                  <a:pt x="0" y="2185916"/>
                </a:lnTo>
                <a:lnTo>
                  <a:pt x="2185917" y="2185916"/>
                </a:lnTo>
                <a:lnTo>
                  <a:pt x="21859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Our External Stakeholder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 Development Officer – CUT Welkom Campus | Confirmed: 26 August 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139542" y="3838217"/>
            <a:ext cx="440085" cy="44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8"/>
                </a:lnSpc>
              </a:pPr>
              <a:r>
                <a:rPr lang="en-US" b="true" sz="1598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08373" y="3838217"/>
            <a:ext cx="440085" cy="4400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8"/>
                </a:lnSpc>
              </a:pPr>
              <a:r>
                <a:rPr lang="en-US" b="true" sz="1598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139542" y="4559480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Validates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9899" y="4559480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Real-World Context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39542" y="4960833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Confirms the proposed platform addresses real operational and student participation challenges.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1848" y="4960833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Provides authentic campus environment insight and frames genuine student engagement needs.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39542" y="6123777"/>
            <a:ext cx="440085" cy="44008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8"/>
                </a:lnSpc>
              </a:pPr>
              <a:r>
                <a:rPr lang="en-US" b="true" sz="1598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08373" y="6123777"/>
            <a:ext cx="440085" cy="44008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8"/>
                </a:lnSpc>
              </a:pPr>
              <a:r>
                <a:rPr lang="en-US" b="true" sz="1598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39542" y="6845040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Formal Confirmation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9899" y="6845040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Feedback &amp; Input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39542" y="7246393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Signed stakeholder confirmation letter dated 26 August 2026, documenting formal project sign-off.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31848" y="7246393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Participates in requirements discussions and provides iterative feedback throughout Phase 1.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564571" y="4288383"/>
            <a:ext cx="800100" cy="765096"/>
          </a:xfrm>
          <a:custGeom>
            <a:avLst/>
            <a:gdLst/>
            <a:ahLst/>
            <a:cxnLst/>
            <a:rect r="r" b="b" t="t" l="l"/>
            <a:pathLst>
              <a:path h="765096" w="800100">
                <a:moveTo>
                  <a:pt x="0" y="0"/>
                </a:moveTo>
                <a:lnTo>
                  <a:pt x="800100" y="0"/>
                </a:lnTo>
                <a:lnTo>
                  <a:pt x="800100" y="765095"/>
                </a:lnTo>
                <a:lnTo>
                  <a:pt x="0" y="765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39117" y="4453258"/>
            <a:ext cx="619235" cy="691031"/>
          </a:xfrm>
          <a:custGeom>
            <a:avLst/>
            <a:gdLst/>
            <a:ahLst/>
            <a:cxnLst/>
            <a:rect r="r" b="b" t="t" l="l"/>
            <a:pathLst>
              <a:path h="691031" w="619235">
                <a:moveTo>
                  <a:pt x="0" y="0"/>
                </a:moveTo>
                <a:lnTo>
                  <a:pt x="619235" y="0"/>
                </a:lnTo>
                <a:lnTo>
                  <a:pt x="619235" y="691030"/>
                </a:lnTo>
                <a:lnTo>
                  <a:pt x="0" y="6910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956371" y="6662680"/>
            <a:ext cx="765296" cy="754005"/>
          </a:xfrm>
          <a:custGeom>
            <a:avLst/>
            <a:gdLst/>
            <a:ahLst/>
            <a:cxnLst/>
            <a:rect r="r" b="b" t="t" l="l"/>
            <a:pathLst>
              <a:path h="754005" w="765296">
                <a:moveTo>
                  <a:pt x="0" y="0"/>
                </a:moveTo>
                <a:lnTo>
                  <a:pt x="765296" y="0"/>
                </a:lnTo>
                <a:lnTo>
                  <a:pt x="765296" y="754005"/>
                </a:lnTo>
                <a:lnTo>
                  <a:pt x="0" y="7540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669018" y="6744583"/>
            <a:ext cx="851681" cy="698379"/>
          </a:xfrm>
          <a:custGeom>
            <a:avLst/>
            <a:gdLst/>
            <a:ahLst/>
            <a:cxnLst/>
            <a:rect r="r" b="b" t="t" l="l"/>
            <a:pathLst>
              <a:path h="698379" w="851681">
                <a:moveTo>
                  <a:pt x="0" y="0"/>
                </a:moveTo>
                <a:lnTo>
                  <a:pt x="851681" y="0"/>
                </a:lnTo>
                <a:lnTo>
                  <a:pt x="851681" y="698378"/>
                </a:lnTo>
                <a:lnTo>
                  <a:pt x="0" y="6983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8258" y="3167534"/>
            <a:ext cx="2418559" cy="2768199"/>
            <a:chOff x="0" y="0"/>
            <a:chExt cx="636987" cy="7290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78327" y="3167534"/>
            <a:ext cx="2418559" cy="2768199"/>
            <a:chOff x="0" y="0"/>
            <a:chExt cx="636987" cy="729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34720" y="3167534"/>
            <a:ext cx="2418559" cy="2768199"/>
            <a:chOff x="0" y="0"/>
            <a:chExt cx="636987" cy="7290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2125" y="3167534"/>
            <a:ext cx="2418559" cy="2768199"/>
            <a:chOff x="0" y="0"/>
            <a:chExt cx="636987" cy="7290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66321" y="3167534"/>
            <a:ext cx="2418559" cy="2768199"/>
            <a:chOff x="0" y="0"/>
            <a:chExt cx="636987" cy="7290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3397538" y="5935733"/>
            <a:ext cx="0" cy="1847102"/>
          </a:xfrm>
          <a:prstGeom prst="line">
            <a:avLst/>
          </a:prstGeom>
          <a:ln cap="flat" w="38100">
            <a:solidFill>
              <a:srgbClr val="BD2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6287607" y="5935733"/>
            <a:ext cx="0" cy="1847102"/>
          </a:xfrm>
          <a:prstGeom prst="line">
            <a:avLst/>
          </a:prstGeom>
          <a:ln cap="flat" w="38100">
            <a:solidFill>
              <a:srgbClr val="FD86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9144000" y="5935733"/>
            <a:ext cx="0" cy="1847102"/>
          </a:xfrm>
          <a:prstGeom prst="line">
            <a:avLst/>
          </a:prstGeom>
          <a:ln cap="flat" w="38100">
            <a:solidFill>
              <a:srgbClr val="AFD2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011405" y="5935733"/>
            <a:ext cx="0" cy="1847102"/>
          </a:xfrm>
          <a:prstGeom prst="line">
            <a:avLst/>
          </a:prstGeom>
          <a:ln cap="flat" w="38100">
            <a:solidFill>
              <a:srgbClr val="2BA1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4875601" y="5935733"/>
            <a:ext cx="0" cy="1847102"/>
          </a:xfrm>
          <a:prstGeom prst="line">
            <a:avLst/>
          </a:prstGeom>
          <a:ln cap="flat" w="38100">
            <a:solidFill>
              <a:srgbClr val="145F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952071" y="6650107"/>
            <a:ext cx="14383858" cy="1132729"/>
          </a:xfrm>
          <a:custGeom>
            <a:avLst/>
            <a:gdLst/>
            <a:ahLst/>
            <a:cxnLst/>
            <a:rect r="r" b="b" t="t" l="l"/>
            <a:pathLst>
              <a:path h="1132729" w="14383858">
                <a:moveTo>
                  <a:pt x="0" y="0"/>
                </a:moveTo>
                <a:lnTo>
                  <a:pt x="14383858" y="0"/>
                </a:lnTo>
                <a:lnTo>
                  <a:pt x="14383858" y="1132728"/>
                </a:lnTo>
                <a:lnTo>
                  <a:pt x="0" y="1132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188258" y="3027349"/>
            <a:ext cx="2418559" cy="2768199"/>
            <a:chOff x="0" y="0"/>
            <a:chExt cx="636987" cy="7290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8327" y="3027349"/>
            <a:ext cx="2418559" cy="2768199"/>
            <a:chOff x="0" y="0"/>
            <a:chExt cx="636987" cy="7290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934720" y="3027349"/>
            <a:ext cx="2418559" cy="2768199"/>
            <a:chOff x="0" y="0"/>
            <a:chExt cx="636987" cy="7290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02125" y="3027349"/>
            <a:ext cx="2418559" cy="2768199"/>
            <a:chOff x="0" y="0"/>
            <a:chExt cx="636987" cy="7290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66321" y="3027349"/>
            <a:ext cx="2418559" cy="2768199"/>
            <a:chOff x="0" y="0"/>
            <a:chExt cx="636987" cy="72907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2946" y="6449699"/>
            <a:ext cx="1234867" cy="400815"/>
            <a:chOff x="0" y="0"/>
            <a:chExt cx="325232" cy="1055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5232" cy="105564"/>
            </a:xfrm>
            <a:custGeom>
              <a:avLst/>
              <a:gdLst/>
              <a:ahLst/>
              <a:cxnLst/>
              <a:rect r="r" b="b" t="t" l="l"/>
              <a:pathLst>
                <a:path h="105564" w="325232">
                  <a:moveTo>
                    <a:pt x="52782" y="0"/>
                  </a:moveTo>
                  <a:lnTo>
                    <a:pt x="272450" y="0"/>
                  </a:lnTo>
                  <a:cubicBezTo>
                    <a:pt x="301601" y="0"/>
                    <a:pt x="325232" y="23631"/>
                    <a:pt x="325232" y="52782"/>
                  </a:cubicBezTo>
                  <a:lnTo>
                    <a:pt x="325232" y="52782"/>
                  </a:lnTo>
                  <a:cubicBezTo>
                    <a:pt x="325232" y="66781"/>
                    <a:pt x="319671" y="80206"/>
                    <a:pt x="309773" y="90105"/>
                  </a:cubicBezTo>
                  <a:cubicBezTo>
                    <a:pt x="299874" y="100003"/>
                    <a:pt x="286449" y="105564"/>
                    <a:pt x="272450" y="105564"/>
                  </a:cubicBezTo>
                  <a:lnTo>
                    <a:pt x="52782" y="105564"/>
                  </a:lnTo>
                  <a:cubicBezTo>
                    <a:pt x="38783" y="105564"/>
                    <a:pt x="25358" y="100003"/>
                    <a:pt x="15460" y="90105"/>
                  </a:cubicBezTo>
                  <a:cubicBezTo>
                    <a:pt x="5561" y="80206"/>
                    <a:pt x="0" y="66781"/>
                    <a:pt x="0" y="52782"/>
                  </a:cubicBezTo>
                  <a:lnTo>
                    <a:pt x="0" y="52782"/>
                  </a:lnTo>
                  <a:cubicBezTo>
                    <a:pt x="0" y="38783"/>
                    <a:pt x="5561" y="25358"/>
                    <a:pt x="15460" y="15460"/>
                  </a:cubicBezTo>
                  <a:cubicBezTo>
                    <a:pt x="25358" y="5561"/>
                    <a:pt x="38783" y="0"/>
                    <a:pt x="52782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25232" cy="134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9"/>
                </a:lnSpc>
              </a:pPr>
              <a:r>
                <a:rPr lang="en-US" b="true" sz="1371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Start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100188" y="6449699"/>
            <a:ext cx="1234867" cy="400815"/>
            <a:chOff x="0" y="0"/>
            <a:chExt cx="325232" cy="1055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5232" cy="105564"/>
            </a:xfrm>
            <a:custGeom>
              <a:avLst/>
              <a:gdLst/>
              <a:ahLst/>
              <a:cxnLst/>
              <a:rect r="r" b="b" t="t" l="l"/>
              <a:pathLst>
                <a:path h="105564" w="325232">
                  <a:moveTo>
                    <a:pt x="52782" y="0"/>
                  </a:moveTo>
                  <a:lnTo>
                    <a:pt x="272450" y="0"/>
                  </a:lnTo>
                  <a:cubicBezTo>
                    <a:pt x="301601" y="0"/>
                    <a:pt x="325232" y="23631"/>
                    <a:pt x="325232" y="52782"/>
                  </a:cubicBezTo>
                  <a:lnTo>
                    <a:pt x="325232" y="52782"/>
                  </a:lnTo>
                  <a:cubicBezTo>
                    <a:pt x="325232" y="66781"/>
                    <a:pt x="319671" y="80206"/>
                    <a:pt x="309773" y="90105"/>
                  </a:cubicBezTo>
                  <a:cubicBezTo>
                    <a:pt x="299874" y="100003"/>
                    <a:pt x="286449" y="105564"/>
                    <a:pt x="272450" y="105564"/>
                  </a:cubicBezTo>
                  <a:lnTo>
                    <a:pt x="52782" y="105564"/>
                  </a:lnTo>
                  <a:cubicBezTo>
                    <a:pt x="38783" y="105564"/>
                    <a:pt x="25358" y="100003"/>
                    <a:pt x="15460" y="90105"/>
                  </a:cubicBezTo>
                  <a:cubicBezTo>
                    <a:pt x="5561" y="80206"/>
                    <a:pt x="0" y="66781"/>
                    <a:pt x="0" y="52782"/>
                  </a:cubicBezTo>
                  <a:lnTo>
                    <a:pt x="0" y="52782"/>
                  </a:lnTo>
                  <a:cubicBezTo>
                    <a:pt x="0" y="38783"/>
                    <a:pt x="5561" y="25358"/>
                    <a:pt x="15460" y="15460"/>
                  </a:cubicBezTo>
                  <a:cubicBezTo>
                    <a:pt x="25358" y="5561"/>
                    <a:pt x="38783" y="0"/>
                    <a:pt x="52782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25232" cy="134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9"/>
                </a:lnSpc>
              </a:pPr>
              <a:r>
                <a:rPr lang="en-US" b="true" sz="1371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End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3158371" y="6973630"/>
            <a:ext cx="485775" cy="477274"/>
          </a:xfrm>
          <a:custGeom>
            <a:avLst/>
            <a:gdLst/>
            <a:ahLst/>
            <a:cxnLst/>
            <a:rect r="r" b="b" t="t" l="l"/>
            <a:pathLst>
              <a:path h="477274" w="485775">
                <a:moveTo>
                  <a:pt x="0" y="0"/>
                </a:moveTo>
                <a:lnTo>
                  <a:pt x="485775" y="0"/>
                </a:lnTo>
                <a:lnTo>
                  <a:pt x="485775" y="477273"/>
                </a:lnTo>
                <a:lnTo>
                  <a:pt x="0" y="477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8906775" y="6897618"/>
            <a:ext cx="476250" cy="584356"/>
          </a:xfrm>
          <a:custGeom>
            <a:avLst/>
            <a:gdLst/>
            <a:ahLst/>
            <a:cxnLst/>
            <a:rect r="r" b="b" t="t" l="l"/>
            <a:pathLst>
              <a:path h="584356" w="476250">
                <a:moveTo>
                  <a:pt x="0" y="0"/>
                </a:moveTo>
                <a:lnTo>
                  <a:pt x="476250" y="0"/>
                </a:lnTo>
                <a:lnTo>
                  <a:pt x="476250" y="584356"/>
                </a:lnTo>
                <a:lnTo>
                  <a:pt x="0" y="584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991093" y="6917685"/>
            <a:ext cx="593984" cy="559767"/>
          </a:xfrm>
          <a:custGeom>
            <a:avLst/>
            <a:gdLst/>
            <a:ahLst/>
            <a:cxnLst/>
            <a:rect r="r" b="b" t="t" l="l"/>
            <a:pathLst>
              <a:path h="559767" w="593984">
                <a:moveTo>
                  <a:pt x="0" y="0"/>
                </a:moveTo>
                <a:lnTo>
                  <a:pt x="593984" y="0"/>
                </a:lnTo>
                <a:lnTo>
                  <a:pt x="593984" y="559767"/>
                </a:lnTo>
                <a:lnTo>
                  <a:pt x="0" y="559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752626" y="6997445"/>
            <a:ext cx="522870" cy="418296"/>
          </a:xfrm>
          <a:custGeom>
            <a:avLst/>
            <a:gdLst/>
            <a:ahLst/>
            <a:cxnLst/>
            <a:rect r="r" b="b" t="t" l="l"/>
            <a:pathLst>
              <a:path h="418296" w="522870">
                <a:moveTo>
                  <a:pt x="0" y="0"/>
                </a:moveTo>
                <a:lnTo>
                  <a:pt x="522870" y="0"/>
                </a:lnTo>
                <a:lnTo>
                  <a:pt x="522870" y="418296"/>
                </a:lnTo>
                <a:lnTo>
                  <a:pt x="0" y="4182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664501" y="6974793"/>
            <a:ext cx="432623" cy="430572"/>
          </a:xfrm>
          <a:custGeom>
            <a:avLst/>
            <a:gdLst/>
            <a:ahLst/>
            <a:cxnLst/>
            <a:rect r="r" b="b" t="t" l="l"/>
            <a:pathLst>
              <a:path h="430572" w="432623">
                <a:moveTo>
                  <a:pt x="0" y="0"/>
                </a:moveTo>
                <a:lnTo>
                  <a:pt x="432623" y="0"/>
                </a:lnTo>
                <a:lnTo>
                  <a:pt x="432623" y="430572"/>
                </a:lnTo>
                <a:lnTo>
                  <a:pt x="0" y="430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524036" y="876300"/>
            <a:ext cx="13239928" cy="72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32"/>
              </a:lnSpc>
            </a:pPr>
            <a:r>
              <a:rPr lang="en-US" b="true" sz="4237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 Engagement: Evidence, Not Assumptions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Documented timeline of stakeholder participation during Phase 1 – ITC327W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86045" y="3754408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Identification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59745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– Step 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29786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– Step 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998981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– Step 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871187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– Step 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38224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– Step 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076114" y="3754408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Kick-off Meeting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27234" y="3754408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Requirements Discussion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794638" y="3754408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 Feedback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658834" y="3754408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Confirmation &amp; Sign-off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300152" y="4155761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identified: Student Development Officer, CUT Welkom Campus. Initial project discussion initiated.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90221" y="4155761"/>
            <a:ext cx="2190345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Formal kick-off meeting conducted. Agenda documented. Meeting minutes recorded. Photographs taken as evidence.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046614" y="4155761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requirements gathered. Problem validated. Scope and system needs discussed in detail.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14019" y="4155761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reviewed initial requirements. Feedback documented. Requirements refined based on input received.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778215" y="4155761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Formal confirmation letter signed. Stakeholder sign-off obtained: 26 August 2026. Requirements baseline established.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795986" y="1567459"/>
            <a:ext cx="1028522" cy="4313157"/>
            <a:chOff x="0" y="0"/>
            <a:chExt cx="423227" cy="1774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27" cy="1774822"/>
            </a:xfrm>
            <a:custGeom>
              <a:avLst/>
              <a:gdLst/>
              <a:ahLst/>
              <a:cxnLst/>
              <a:rect r="r" b="b" t="t" l="l"/>
              <a:pathLst>
                <a:path h="1774822" w="423227">
                  <a:moveTo>
                    <a:pt x="423227" y="0"/>
                  </a:moveTo>
                  <a:lnTo>
                    <a:pt x="423227" y="1774822"/>
                  </a:lnTo>
                  <a:lnTo>
                    <a:pt x="211613" y="1647822"/>
                  </a:lnTo>
                  <a:lnTo>
                    <a:pt x="0" y="1774822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3227" cy="1666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6053117" y="2915321"/>
            <a:ext cx="1028522" cy="3798896"/>
            <a:chOff x="0" y="0"/>
            <a:chExt cx="423227" cy="1563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3227" cy="1563208"/>
            </a:xfrm>
            <a:custGeom>
              <a:avLst/>
              <a:gdLst/>
              <a:ahLst/>
              <a:cxnLst/>
              <a:rect r="r" b="b" t="t" l="l"/>
              <a:pathLst>
                <a:path h="1563208" w="423227">
                  <a:moveTo>
                    <a:pt x="423227" y="0"/>
                  </a:moveTo>
                  <a:lnTo>
                    <a:pt x="423227" y="1563208"/>
                  </a:lnTo>
                  <a:lnTo>
                    <a:pt x="211613" y="1436208"/>
                  </a:lnTo>
                  <a:lnTo>
                    <a:pt x="0" y="1563208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423227" cy="1455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6310247" y="4263182"/>
            <a:ext cx="1028522" cy="3284635"/>
            <a:chOff x="0" y="0"/>
            <a:chExt cx="423227" cy="13515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227" cy="1351595"/>
            </a:xfrm>
            <a:custGeom>
              <a:avLst/>
              <a:gdLst/>
              <a:ahLst/>
              <a:cxnLst/>
              <a:rect r="r" b="b" t="t" l="l"/>
              <a:pathLst>
                <a:path h="1351595" w="423227">
                  <a:moveTo>
                    <a:pt x="423227" y="0"/>
                  </a:moveTo>
                  <a:lnTo>
                    <a:pt x="423227" y="1351595"/>
                  </a:lnTo>
                  <a:lnTo>
                    <a:pt x="211613" y="1224595"/>
                  </a:lnTo>
                  <a:lnTo>
                    <a:pt x="0" y="1351595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23227" cy="124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6567377" y="5611044"/>
            <a:ext cx="1028522" cy="2770374"/>
            <a:chOff x="0" y="0"/>
            <a:chExt cx="423227" cy="11399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227" cy="1139982"/>
            </a:xfrm>
            <a:custGeom>
              <a:avLst/>
              <a:gdLst/>
              <a:ahLst/>
              <a:cxnLst/>
              <a:rect r="r" b="b" t="t" l="l"/>
              <a:pathLst>
                <a:path h="1139982" w="423227">
                  <a:moveTo>
                    <a:pt x="423227" y="0"/>
                  </a:moveTo>
                  <a:lnTo>
                    <a:pt x="423227" y="1139982"/>
                  </a:lnTo>
                  <a:lnTo>
                    <a:pt x="211613" y="1012982"/>
                  </a:lnTo>
                  <a:lnTo>
                    <a:pt x="0" y="1139982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23227" cy="1032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6824508" y="6958906"/>
            <a:ext cx="1028522" cy="2256113"/>
            <a:chOff x="0" y="0"/>
            <a:chExt cx="423227" cy="92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3227" cy="928368"/>
            </a:xfrm>
            <a:custGeom>
              <a:avLst/>
              <a:gdLst/>
              <a:ahLst/>
              <a:cxnLst/>
              <a:rect r="r" b="b" t="t" l="l"/>
              <a:pathLst>
                <a:path h="928368" w="423227">
                  <a:moveTo>
                    <a:pt x="423227" y="0"/>
                  </a:moveTo>
                  <a:lnTo>
                    <a:pt x="423227" y="928368"/>
                  </a:lnTo>
                  <a:lnTo>
                    <a:pt x="211613" y="801368"/>
                  </a:lnTo>
                  <a:lnTo>
                    <a:pt x="0" y="928368"/>
                  </a:lnTo>
                  <a:lnTo>
                    <a:pt x="0" y="0"/>
                  </a:lnTo>
                  <a:lnTo>
                    <a:pt x="423227" y="0"/>
                  </a:ln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23227" cy="820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The Problem We Are Solving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09031" y="1866052"/>
            <a:ext cx="9069938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Fragmented campus event communication creates real operational and engagement challenges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2575" y="3561160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145F4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52575" y="4651891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2BA149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52575" y="5702009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AFD243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52575" y="6796679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FD8624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52575" y="7891349"/>
            <a:ext cx="1116093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BD2141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49668" y="3300528"/>
            <a:ext cx="3607396" cy="21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2"/>
              </a:lnSpc>
            </a:pPr>
            <a:r>
              <a:rPr lang="en-US" b="true" sz="1557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Fragmented Communication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9668" y="3668791"/>
            <a:ext cx="3607396" cy="47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</a:pPr>
            <a:r>
              <a:rPr lang="en-US" sz="1362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Event information is scattered across multiple uncoordinated channels with no central platform.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9668" y="4391259"/>
            <a:ext cx="3607396" cy="21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2"/>
              </a:lnSpc>
            </a:pPr>
            <a:r>
              <a:rPr lang="en-US" b="true" sz="1557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Limited Event Visibility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49668" y="4759522"/>
            <a:ext cx="3607396" cy="47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</a:pPr>
            <a:r>
              <a:rPr lang="en-US" sz="1362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Students miss or overlook event information, resulting in low and unpredictable attendance.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49668" y="5441377"/>
            <a:ext cx="3607396" cy="21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2"/>
              </a:lnSpc>
            </a:pPr>
            <a:r>
              <a:rPr lang="en-US" b="true" sz="1557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Unpredictable RSVP &amp; Attendance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49668" y="5809640"/>
            <a:ext cx="3607396" cy="47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</a:pPr>
            <a:r>
              <a:rPr lang="en-US" sz="1362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No reliable RSVP mechanism means organisers cannot forecast attendance or plan resources.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49668" y="6536047"/>
            <a:ext cx="3607396" cy="21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2"/>
              </a:lnSpc>
            </a:pPr>
            <a:r>
              <a:rPr lang="en-US" b="true" sz="1557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Limited Attendance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9668" y="6904310"/>
            <a:ext cx="3607396" cy="47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</a:pPr>
            <a:r>
              <a:rPr lang="en-US" sz="1362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Organisers lack verified attendance records, creating gaps in data and reporting accuracy.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9668" y="7630716"/>
            <a:ext cx="3607396" cy="21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2"/>
              </a:lnSpc>
            </a:pPr>
            <a:r>
              <a:rPr lang="en-US" b="true" sz="1557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Operational Challenges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49668" y="7998979"/>
            <a:ext cx="3607396" cy="70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</a:pPr>
            <a:r>
              <a:rPr lang="en-US" sz="1362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Food waste risk, missed student opportunities, and unreliable data undermine campus operations.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346499" y="3495675"/>
            <a:ext cx="771469" cy="457819"/>
          </a:xfrm>
          <a:custGeom>
            <a:avLst/>
            <a:gdLst/>
            <a:ahLst/>
            <a:cxnLst/>
            <a:rect r="r" b="b" t="t" l="l"/>
            <a:pathLst>
              <a:path h="457819" w="771469">
                <a:moveTo>
                  <a:pt x="0" y="0"/>
                </a:moveTo>
                <a:lnTo>
                  <a:pt x="771469" y="0"/>
                </a:lnTo>
                <a:lnTo>
                  <a:pt x="771469" y="457818"/>
                </a:lnTo>
                <a:lnTo>
                  <a:pt x="0" y="45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384883" y="6456969"/>
            <a:ext cx="962795" cy="769269"/>
          </a:xfrm>
          <a:custGeom>
            <a:avLst/>
            <a:gdLst/>
            <a:ahLst/>
            <a:cxnLst/>
            <a:rect r="r" b="b" t="t" l="l"/>
            <a:pathLst>
              <a:path h="769269" w="962795">
                <a:moveTo>
                  <a:pt x="0" y="0"/>
                </a:moveTo>
                <a:lnTo>
                  <a:pt x="962796" y="0"/>
                </a:lnTo>
                <a:lnTo>
                  <a:pt x="962796" y="769268"/>
                </a:lnTo>
                <a:lnTo>
                  <a:pt x="0" y="769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326550" y="4636378"/>
            <a:ext cx="681306" cy="354279"/>
          </a:xfrm>
          <a:custGeom>
            <a:avLst/>
            <a:gdLst/>
            <a:ahLst/>
            <a:cxnLst/>
            <a:rect r="r" b="b" t="t" l="l"/>
            <a:pathLst>
              <a:path h="354279" w="681306">
                <a:moveTo>
                  <a:pt x="0" y="0"/>
                </a:moveTo>
                <a:lnTo>
                  <a:pt x="681306" y="0"/>
                </a:lnTo>
                <a:lnTo>
                  <a:pt x="681306" y="354279"/>
                </a:lnTo>
                <a:lnTo>
                  <a:pt x="0" y="354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522043" y="5647405"/>
            <a:ext cx="476250" cy="500939"/>
          </a:xfrm>
          <a:custGeom>
            <a:avLst/>
            <a:gdLst/>
            <a:ahLst/>
            <a:cxnLst/>
            <a:rect r="r" b="b" t="t" l="l"/>
            <a:pathLst>
              <a:path h="500939" w="476250">
                <a:moveTo>
                  <a:pt x="0" y="0"/>
                </a:moveTo>
                <a:lnTo>
                  <a:pt x="476250" y="0"/>
                </a:lnTo>
                <a:lnTo>
                  <a:pt x="476250" y="500938"/>
                </a:lnTo>
                <a:lnTo>
                  <a:pt x="0" y="500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476051" y="7785341"/>
            <a:ext cx="533400" cy="475129"/>
          </a:xfrm>
          <a:custGeom>
            <a:avLst/>
            <a:gdLst/>
            <a:ahLst/>
            <a:cxnLst/>
            <a:rect r="r" b="b" t="t" l="l"/>
            <a:pathLst>
              <a:path h="475129" w="533400">
                <a:moveTo>
                  <a:pt x="0" y="0"/>
                </a:moveTo>
                <a:lnTo>
                  <a:pt x="533400" y="0"/>
                </a:lnTo>
                <a:lnTo>
                  <a:pt x="533400" y="475130"/>
                </a:lnTo>
                <a:lnTo>
                  <a:pt x="0" y="475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6779" y="3091713"/>
            <a:ext cx="4784086" cy="4652523"/>
          </a:xfrm>
          <a:custGeom>
            <a:avLst/>
            <a:gdLst/>
            <a:ahLst/>
            <a:cxnLst/>
            <a:rect r="r" b="b" t="t" l="l"/>
            <a:pathLst>
              <a:path h="4652523" w="4784086">
                <a:moveTo>
                  <a:pt x="0" y="0"/>
                </a:moveTo>
                <a:lnTo>
                  <a:pt x="4784086" y="0"/>
                </a:lnTo>
                <a:lnTo>
                  <a:pt x="4784086" y="4652523"/>
                </a:lnTo>
                <a:lnTo>
                  <a:pt x="0" y="46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Introducing Campus Coupon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09031" y="1875577"/>
            <a:ext cx="9069938" cy="23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4"/>
              </a:lnSpc>
            </a:pPr>
            <a:r>
              <a:rPr lang="en-US" sz="1374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An integrated CUT event engagement platform — centralising communication, RSVP, attendance verification, and rewards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15891" y="315497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Discover &amp; RSVP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5891" y="3543579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Students discover campus events, view details, and submit their RSVP through the platform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39250" y="3067090"/>
            <a:ext cx="396149" cy="39614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9618345" y="3049090"/>
            <a:ext cx="0" cy="432149"/>
          </a:xfrm>
          <a:prstGeom prst="line">
            <a:avLst/>
          </a:prstGeom>
          <a:ln cap="rnd" w="38100">
            <a:solidFill>
              <a:srgbClr val="145F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175319" y="315497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Earn Points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75319" y="3543579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Verified attendance automatically triggers reward points credited to the student account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98678" y="3067090"/>
            <a:ext cx="396149" cy="3961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4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3777773" y="3049090"/>
            <a:ext cx="0" cy="432149"/>
          </a:xfrm>
          <a:prstGeom prst="line">
            <a:avLst/>
          </a:prstGeom>
          <a:ln cap="rnd" w="38100">
            <a:solidFill>
              <a:srgbClr val="FD86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015891" y="472198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Attend &amp; Verify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15891" y="5110593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Students attend the event and authorised personnel verify attendance via unique QR code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50" y="4634104"/>
            <a:ext cx="396149" cy="39614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2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9618345" y="4616104"/>
            <a:ext cx="0" cy="432149"/>
          </a:xfrm>
          <a:prstGeom prst="line">
            <a:avLst/>
          </a:prstGeom>
          <a:ln cap="rnd" w="38100">
            <a:solidFill>
              <a:srgbClr val="2BA1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4175319" y="472198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Redeem at Cafeteria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75319" y="5110593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Students redeem accumulated coupon points at the CUT Cafeteria (1 point = R1.00)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398678" y="4634104"/>
            <a:ext cx="396149" cy="39614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5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777773" y="4616104"/>
            <a:ext cx="0" cy="432149"/>
          </a:xfrm>
          <a:prstGeom prst="line">
            <a:avLst/>
          </a:prstGeom>
          <a:ln cap="rnd" w="38100">
            <a:solidFill>
              <a:srgbClr val="BD2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015891" y="6289003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Coupon Wallet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15891" y="6677607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Points are stored in a student coupon wallet with full transaction history and balance tracking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39250" y="6201118"/>
            <a:ext cx="396149" cy="39614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3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9618345" y="6183118"/>
            <a:ext cx="0" cy="432149"/>
          </a:xfrm>
          <a:prstGeom prst="line">
            <a:avLst/>
          </a:prstGeom>
          <a:ln cap="rnd" w="38100">
            <a:solidFill>
              <a:srgbClr val="AFD2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5040359" y="2853582"/>
            <a:ext cx="432911" cy="430691"/>
          </a:xfrm>
          <a:custGeom>
            <a:avLst/>
            <a:gdLst/>
            <a:ahLst/>
            <a:cxnLst/>
            <a:rect r="r" b="b" t="t" l="l"/>
            <a:pathLst>
              <a:path h="430691" w="432911">
                <a:moveTo>
                  <a:pt x="0" y="0"/>
                </a:moveTo>
                <a:lnTo>
                  <a:pt x="432911" y="0"/>
                </a:lnTo>
                <a:lnTo>
                  <a:pt x="432911" y="430692"/>
                </a:lnTo>
                <a:lnTo>
                  <a:pt x="0" y="430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266046" y="4516897"/>
            <a:ext cx="383870" cy="376162"/>
          </a:xfrm>
          <a:custGeom>
            <a:avLst/>
            <a:gdLst/>
            <a:ahLst/>
            <a:cxnLst/>
            <a:rect r="r" b="b" t="t" l="l"/>
            <a:pathLst>
              <a:path h="376162" w="383870">
                <a:moveTo>
                  <a:pt x="0" y="0"/>
                </a:moveTo>
                <a:lnTo>
                  <a:pt x="383871" y="0"/>
                </a:lnTo>
                <a:lnTo>
                  <a:pt x="383871" y="376163"/>
                </a:lnTo>
                <a:lnTo>
                  <a:pt x="0" y="376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325809" y="6978403"/>
            <a:ext cx="609835" cy="538258"/>
          </a:xfrm>
          <a:custGeom>
            <a:avLst/>
            <a:gdLst/>
            <a:ahLst/>
            <a:cxnLst/>
            <a:rect r="r" b="b" t="t" l="l"/>
            <a:pathLst>
              <a:path h="538258" w="609835">
                <a:moveTo>
                  <a:pt x="0" y="0"/>
                </a:moveTo>
                <a:lnTo>
                  <a:pt x="609835" y="0"/>
                </a:lnTo>
                <a:lnTo>
                  <a:pt x="609835" y="538258"/>
                </a:lnTo>
                <a:lnTo>
                  <a:pt x="0" y="538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654999" y="7079610"/>
            <a:ext cx="510558" cy="388418"/>
          </a:xfrm>
          <a:custGeom>
            <a:avLst/>
            <a:gdLst/>
            <a:ahLst/>
            <a:cxnLst/>
            <a:rect r="r" b="b" t="t" l="l"/>
            <a:pathLst>
              <a:path h="388418" w="510558">
                <a:moveTo>
                  <a:pt x="0" y="0"/>
                </a:moveTo>
                <a:lnTo>
                  <a:pt x="510558" y="0"/>
                </a:lnTo>
                <a:lnTo>
                  <a:pt x="510558" y="388418"/>
                </a:lnTo>
                <a:lnTo>
                  <a:pt x="0" y="388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838047" y="4444909"/>
            <a:ext cx="450907" cy="433418"/>
          </a:xfrm>
          <a:custGeom>
            <a:avLst/>
            <a:gdLst/>
            <a:ahLst/>
            <a:cxnLst/>
            <a:rect r="r" b="b" t="t" l="l"/>
            <a:pathLst>
              <a:path h="433418" w="450907">
                <a:moveTo>
                  <a:pt x="0" y="0"/>
                </a:moveTo>
                <a:lnTo>
                  <a:pt x="450907" y="0"/>
                </a:lnTo>
                <a:lnTo>
                  <a:pt x="450907" y="433418"/>
                </a:lnTo>
                <a:lnTo>
                  <a:pt x="0" y="4334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9969" y="4191000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4"/>
                </a:lnTo>
                <a:lnTo>
                  <a:pt x="0" y="3073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70294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80618" y="4191000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4"/>
                </a:lnTo>
                <a:lnTo>
                  <a:pt x="0" y="3073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0943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>
            <a:off x="2524036" y="6444347"/>
            <a:ext cx="3308212" cy="1445458"/>
          </a:xfrm>
          <a:custGeom>
            <a:avLst/>
            <a:gdLst/>
            <a:ahLst/>
            <a:cxnLst/>
            <a:rect r="r" b="b" t="t" l="l"/>
            <a:pathLst>
              <a:path h="1445458" w="3308212">
                <a:moveTo>
                  <a:pt x="3308212" y="1014100"/>
                </a:moveTo>
                <a:quadBezTo>
                  <a:pt x="1124394" y="2235084"/>
                  <a:pt x="0" y="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9141219" y="6408217"/>
            <a:ext cx="3283688" cy="1465952"/>
          </a:xfrm>
          <a:custGeom>
            <a:avLst/>
            <a:gdLst/>
            <a:ahLst/>
            <a:cxnLst/>
            <a:rect r="r" b="b" t="t" l="l"/>
            <a:pathLst>
              <a:path h="1465952" w="3283688">
                <a:moveTo>
                  <a:pt x="3283688" y="1050230"/>
                </a:moveTo>
                <a:quadBezTo>
                  <a:pt x="1091253" y="2246610"/>
                  <a:pt x="0" y="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5886897" y="6408217"/>
            <a:ext cx="3254322" cy="1465296"/>
          </a:xfrm>
          <a:custGeom>
            <a:avLst/>
            <a:gdLst/>
            <a:ahLst/>
            <a:cxnLst/>
            <a:rect r="r" b="b" t="t" l="l"/>
            <a:pathLst>
              <a:path h="1465296" w="3254322">
                <a:moveTo>
                  <a:pt x="3254322" y="0"/>
                </a:moveTo>
                <a:quadBezTo>
                  <a:pt x="2182253" y="2245164"/>
                  <a:pt x="0" y="105023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12452897" y="6424463"/>
            <a:ext cx="3311067" cy="1457072"/>
          </a:xfrm>
          <a:custGeom>
            <a:avLst/>
            <a:gdLst/>
            <a:ahLst/>
            <a:cxnLst/>
            <a:rect r="r" b="b" t="t" l="l"/>
            <a:pathLst>
              <a:path h="1457072" w="3311067">
                <a:moveTo>
                  <a:pt x="3311067" y="0"/>
                </a:moveTo>
                <a:quadBezTo>
                  <a:pt x="2194292" y="2242227"/>
                  <a:pt x="0" y="1033984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330393" y="6020931"/>
            <a:ext cx="387286" cy="3872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38605" y="7071162"/>
            <a:ext cx="387286" cy="38728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59254" y="7071162"/>
            <a:ext cx="387286" cy="3872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47576" y="6020931"/>
            <a:ext cx="387286" cy="3872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69579" y="6020931"/>
            <a:ext cx="387286" cy="3872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298541" y="3573063"/>
            <a:ext cx="476744" cy="490856"/>
          </a:xfrm>
          <a:custGeom>
            <a:avLst/>
            <a:gdLst/>
            <a:ahLst/>
            <a:cxnLst/>
            <a:rect r="r" b="b" t="t" l="l"/>
            <a:pathLst>
              <a:path h="490856" w="476744">
                <a:moveTo>
                  <a:pt x="0" y="0"/>
                </a:moveTo>
                <a:lnTo>
                  <a:pt x="476744" y="0"/>
                </a:lnTo>
                <a:lnTo>
                  <a:pt x="476744" y="490856"/>
                </a:lnTo>
                <a:lnTo>
                  <a:pt x="0" y="4908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581836" y="4579103"/>
            <a:ext cx="523875" cy="551410"/>
          </a:xfrm>
          <a:custGeom>
            <a:avLst/>
            <a:gdLst/>
            <a:ahLst/>
            <a:cxnLst/>
            <a:rect r="r" b="b" t="t" l="l"/>
            <a:pathLst>
              <a:path h="551410" w="523875">
                <a:moveTo>
                  <a:pt x="0" y="0"/>
                </a:moveTo>
                <a:lnTo>
                  <a:pt x="523875" y="0"/>
                </a:lnTo>
                <a:lnTo>
                  <a:pt x="523875" y="551410"/>
                </a:lnTo>
                <a:lnTo>
                  <a:pt x="0" y="551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38213" y="3544153"/>
            <a:ext cx="458014" cy="542832"/>
          </a:xfrm>
          <a:custGeom>
            <a:avLst/>
            <a:gdLst/>
            <a:ahLst/>
            <a:cxnLst/>
            <a:rect r="r" b="b" t="t" l="l"/>
            <a:pathLst>
              <a:path h="542832" w="458014">
                <a:moveTo>
                  <a:pt x="0" y="0"/>
                </a:moveTo>
                <a:lnTo>
                  <a:pt x="458014" y="0"/>
                </a:lnTo>
                <a:lnTo>
                  <a:pt x="458014" y="542831"/>
                </a:lnTo>
                <a:lnTo>
                  <a:pt x="0" y="5428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83400" y="4687606"/>
            <a:ext cx="412895" cy="419007"/>
          </a:xfrm>
          <a:custGeom>
            <a:avLst/>
            <a:gdLst/>
            <a:ahLst/>
            <a:cxnLst/>
            <a:rect r="r" b="b" t="t" l="l"/>
            <a:pathLst>
              <a:path h="419007" w="412895">
                <a:moveTo>
                  <a:pt x="0" y="0"/>
                </a:moveTo>
                <a:lnTo>
                  <a:pt x="412895" y="0"/>
                </a:lnTo>
                <a:lnTo>
                  <a:pt x="412895" y="419007"/>
                </a:lnTo>
                <a:lnTo>
                  <a:pt x="0" y="4190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485769" y="3509657"/>
            <a:ext cx="523875" cy="548572"/>
          </a:xfrm>
          <a:custGeom>
            <a:avLst/>
            <a:gdLst/>
            <a:ahLst/>
            <a:cxnLst/>
            <a:rect r="r" b="b" t="t" l="l"/>
            <a:pathLst>
              <a:path h="548572" w="523875">
                <a:moveTo>
                  <a:pt x="0" y="0"/>
                </a:moveTo>
                <a:lnTo>
                  <a:pt x="523875" y="0"/>
                </a:lnTo>
                <a:lnTo>
                  <a:pt x="523875" y="548572"/>
                </a:lnTo>
                <a:lnTo>
                  <a:pt x="0" y="548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 Aim &amp; Objectives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09031" y="1866052"/>
            <a:ext cx="9069938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To centralise campus event communication and increase student participation through a verified attendance reward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4392" y="4696722"/>
            <a:ext cx="2420773" cy="19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1"/>
              </a:lnSpc>
            </a:pPr>
            <a:r>
              <a:rPr lang="en-US" b="true" sz="1464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Centralise Event Info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32186" y="4696722"/>
            <a:ext cx="2420773" cy="19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1"/>
              </a:lnSpc>
            </a:pPr>
            <a:r>
              <a:rPr lang="en-US" b="true" sz="1464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Student RSVP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23289" y="5746952"/>
            <a:ext cx="2420773" cy="19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1"/>
              </a:lnSpc>
            </a:pPr>
            <a:r>
              <a:rPr lang="en-US" b="true" sz="1464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Admin Event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52835" y="4696722"/>
            <a:ext cx="2420773" cy="19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1"/>
              </a:lnSpc>
            </a:pPr>
            <a:r>
              <a:rPr lang="en-US" b="true" sz="1464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Reward Points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43938" y="5746952"/>
            <a:ext cx="2420773" cy="19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11"/>
              </a:lnSpc>
            </a:pPr>
            <a:r>
              <a:rPr lang="en-US" b="true" sz="1464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Attendance Verification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9606" y="5001512"/>
            <a:ext cx="2190345" cy="64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Single platform for all CUT campus events, accessible to all students and administrators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47400" y="5001512"/>
            <a:ext cx="2190345" cy="64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Students RSVP to events; one registration per event with admin visibility of lists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38503" y="6051742"/>
            <a:ext cx="2190345" cy="64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Authorised admins create, update, and publish events with role-based access control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68049" y="5001512"/>
            <a:ext cx="2190345" cy="64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Automatic reward points upon verified attendance; coupon wallet and cafeteria redemption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59152" y="6051742"/>
            <a:ext cx="2190345" cy="64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Unique event QR code enables authorised personnel to verify and record attendance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3452824"/>
            <a:ext cx="5334000" cy="2268262"/>
            <a:chOff x="0" y="0"/>
            <a:chExt cx="1404840" cy="597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361395" y="4401036"/>
            <a:ext cx="1936492" cy="371840"/>
            <a:chOff x="0" y="0"/>
            <a:chExt cx="510023" cy="97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10023" cy="12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63"/>
                </a:lnSpc>
              </a:pPr>
              <a:r>
                <a:rPr lang="en-US" b="true" sz="125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Students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98486" y="4295857"/>
            <a:ext cx="3216610" cy="87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</a:pPr>
            <a:r>
              <a:rPr lang="en-US" sz="125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Discover and RSVP to campus events. Verify attendance via QR code. Earn reward points and manage coupon wallet for cafeteria redemption.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6096000"/>
            <a:ext cx="5334000" cy="2268262"/>
            <a:chOff x="0" y="0"/>
            <a:chExt cx="1404840" cy="597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361395" y="7044211"/>
            <a:ext cx="1936492" cy="371840"/>
            <a:chOff x="0" y="0"/>
            <a:chExt cx="510023" cy="97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10023" cy="12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63"/>
                </a:lnSpc>
              </a:pPr>
              <a:r>
                <a:rPr lang="en-US" b="true" sz="125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Admins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98486" y="6939033"/>
            <a:ext cx="3216610" cy="87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</a:pPr>
            <a:r>
              <a:rPr lang="en-US" sz="125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Create, update, and publish campus events. Access RSVP lists and manage student attendance verification using event-specific QR codes.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53196" y="3738574"/>
            <a:ext cx="738176" cy="73817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53196" y="6381750"/>
            <a:ext cx="738176" cy="7381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7000" y="3452824"/>
            <a:ext cx="5334000" cy="2268262"/>
            <a:chOff x="0" y="0"/>
            <a:chExt cx="1404840" cy="5974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25115" y="4419674"/>
            <a:ext cx="3216610" cy="65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</a:pPr>
            <a:r>
              <a:rPr lang="en-US" sz="125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Accept student reward coupons as payment. Benefit from traceable redemption records and improved demand forecasting for operations.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77000" y="6096000"/>
            <a:ext cx="5334000" cy="2268262"/>
            <a:chOff x="0" y="0"/>
            <a:chExt cx="1404840" cy="5974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5885174" y="4401036"/>
            <a:ext cx="1936492" cy="371840"/>
            <a:chOff x="0" y="0"/>
            <a:chExt cx="510023" cy="979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10023" cy="12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63"/>
                </a:lnSpc>
              </a:pPr>
              <a:r>
                <a:rPr lang="en-US" b="true" sz="125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Cafeteria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5885174" y="7044211"/>
            <a:ext cx="1936492" cy="371840"/>
            <a:chOff x="0" y="0"/>
            <a:chExt cx="510023" cy="979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10023" cy="12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63"/>
                </a:lnSpc>
              </a:pPr>
              <a:r>
                <a:rPr lang="en-US" b="true" sz="125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IT Support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525115" y="6939033"/>
            <a:ext cx="3216610" cy="65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</a:pPr>
            <a:r>
              <a:rPr lang="en-US" sz="125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Maintain platform infrastructure, ensure system availability, support integration of Flutter, ASP.NET, and Supabase components securely.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777696" y="3738574"/>
            <a:ext cx="738176" cy="738176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77696" y="6381750"/>
            <a:ext cx="738176" cy="73817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01500" y="3452824"/>
            <a:ext cx="5334000" cy="2268262"/>
            <a:chOff x="0" y="0"/>
            <a:chExt cx="1404840" cy="5974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1409674" y="4401036"/>
            <a:ext cx="1936492" cy="371840"/>
            <a:chOff x="0" y="0"/>
            <a:chExt cx="510023" cy="979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F7C91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10023" cy="12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63"/>
                </a:lnSpc>
              </a:pPr>
              <a:r>
                <a:rPr lang="en-US" b="true" sz="1259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Management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040090" y="4419674"/>
            <a:ext cx="3216610" cy="87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</a:pPr>
            <a:r>
              <a:rPr lang="en-US" sz="125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Govern reward policy and prize allocation. Gain operational insights from participation data. Oversee platform compliance with CUT standards and POPIA.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01500" y="6096000"/>
            <a:ext cx="5334000" cy="2268262"/>
            <a:chOff x="0" y="0"/>
            <a:chExt cx="1404840" cy="5974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11409674" y="7044211"/>
            <a:ext cx="1936492" cy="371840"/>
            <a:chOff x="0" y="0"/>
            <a:chExt cx="510023" cy="9793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510023" cy="126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63"/>
                </a:lnSpc>
              </a:pPr>
              <a:r>
                <a:rPr lang="en-US" b="true" sz="125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Dev Team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040090" y="6939033"/>
            <a:ext cx="3216610" cy="87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3"/>
              </a:lnSpc>
            </a:pPr>
            <a:r>
              <a:rPr lang="en-US" sz="125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Lead requirements gathering, system design, development, testing, documentation, and deployment of the Campus Coupon platform across all phases.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302196" y="3738574"/>
            <a:ext cx="738176" cy="738176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914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302196" y="6381750"/>
            <a:ext cx="738176" cy="738176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5438608" y="3954798"/>
            <a:ext cx="372974" cy="319826"/>
          </a:xfrm>
          <a:custGeom>
            <a:avLst/>
            <a:gdLst/>
            <a:ahLst/>
            <a:cxnLst/>
            <a:rect r="r" b="b" t="t" l="l"/>
            <a:pathLst>
              <a:path h="319826" w="372974">
                <a:moveTo>
                  <a:pt x="0" y="0"/>
                </a:moveTo>
                <a:lnTo>
                  <a:pt x="372975" y="0"/>
                </a:lnTo>
                <a:lnTo>
                  <a:pt x="372975" y="319825"/>
                </a:lnTo>
                <a:lnTo>
                  <a:pt x="0" y="319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1009269" y="3960726"/>
            <a:ext cx="274696" cy="283557"/>
          </a:xfrm>
          <a:custGeom>
            <a:avLst/>
            <a:gdLst/>
            <a:ahLst/>
            <a:cxnLst/>
            <a:rect r="r" b="b" t="t" l="l"/>
            <a:pathLst>
              <a:path h="283557" w="274696">
                <a:moveTo>
                  <a:pt x="0" y="0"/>
                </a:moveTo>
                <a:lnTo>
                  <a:pt x="274696" y="0"/>
                </a:lnTo>
                <a:lnTo>
                  <a:pt x="274696" y="283557"/>
                </a:lnTo>
                <a:lnTo>
                  <a:pt x="0" y="283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6512134" y="3963384"/>
            <a:ext cx="314325" cy="314325"/>
          </a:xfrm>
          <a:custGeom>
            <a:avLst/>
            <a:gdLst/>
            <a:ahLst/>
            <a:cxnLst/>
            <a:rect r="r" b="b" t="t" l="l"/>
            <a:pathLst>
              <a:path h="314325" w="314325">
                <a:moveTo>
                  <a:pt x="0" y="0"/>
                </a:moveTo>
                <a:lnTo>
                  <a:pt x="314325" y="0"/>
                </a:lnTo>
                <a:lnTo>
                  <a:pt x="314325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5485800" y="6597607"/>
            <a:ext cx="272293" cy="322306"/>
          </a:xfrm>
          <a:custGeom>
            <a:avLst/>
            <a:gdLst/>
            <a:ahLst/>
            <a:cxnLst/>
            <a:rect r="r" b="b" t="t" l="l"/>
            <a:pathLst>
              <a:path h="322306" w="272293">
                <a:moveTo>
                  <a:pt x="0" y="0"/>
                </a:moveTo>
                <a:lnTo>
                  <a:pt x="272293" y="0"/>
                </a:lnTo>
                <a:lnTo>
                  <a:pt x="272293" y="322306"/>
                </a:lnTo>
                <a:lnTo>
                  <a:pt x="0" y="322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6493457" y="6546036"/>
            <a:ext cx="339471" cy="313456"/>
          </a:xfrm>
          <a:custGeom>
            <a:avLst/>
            <a:gdLst/>
            <a:ahLst/>
            <a:cxnLst/>
            <a:rect r="r" b="b" t="t" l="l"/>
            <a:pathLst>
              <a:path h="313456" w="339471">
                <a:moveTo>
                  <a:pt x="0" y="0"/>
                </a:moveTo>
                <a:lnTo>
                  <a:pt x="339471" y="0"/>
                </a:lnTo>
                <a:lnTo>
                  <a:pt x="339471" y="313457"/>
                </a:lnTo>
                <a:lnTo>
                  <a:pt x="0" y="313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0996256" y="6604665"/>
            <a:ext cx="299996" cy="257996"/>
          </a:xfrm>
          <a:custGeom>
            <a:avLst/>
            <a:gdLst/>
            <a:ahLst/>
            <a:cxnLst/>
            <a:rect r="r" b="b" t="t" l="l"/>
            <a:pathLst>
              <a:path h="257996" w="299996">
                <a:moveTo>
                  <a:pt x="0" y="0"/>
                </a:moveTo>
                <a:lnTo>
                  <a:pt x="299995" y="0"/>
                </a:lnTo>
                <a:lnTo>
                  <a:pt x="299995" y="257996"/>
                </a:lnTo>
                <a:lnTo>
                  <a:pt x="0" y="257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3040090" y="4037371"/>
            <a:ext cx="2418559" cy="1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"/>
              </a:lnSpc>
            </a:pPr>
            <a:r>
              <a:rPr lang="en-US" b="true" sz="143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CUT Management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98486" y="3913554"/>
            <a:ext cx="2418559" cy="1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"/>
              </a:lnSpc>
            </a:pPr>
            <a:r>
              <a:rPr lang="en-US" b="true" sz="143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CUT Students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998486" y="6556730"/>
            <a:ext cx="2418559" cy="1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"/>
              </a:lnSpc>
            </a:pPr>
            <a:r>
              <a:rPr lang="en-US" b="true" sz="143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Event Administrators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525115" y="4037371"/>
            <a:ext cx="2418559" cy="1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"/>
              </a:lnSpc>
            </a:pPr>
            <a:r>
              <a:rPr lang="en-US" b="true" sz="143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CUT Cafeteria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525115" y="6556730"/>
            <a:ext cx="2418559" cy="1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"/>
              </a:lnSpc>
            </a:pPr>
            <a:r>
              <a:rPr lang="en-US" b="true" sz="143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IT / Technical Support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040090" y="6556730"/>
            <a:ext cx="2418559" cy="19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"/>
              </a:lnSpc>
            </a:pPr>
            <a:r>
              <a:rPr lang="en-US" b="true" sz="143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Prominent Programmers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Who Benefits From Campus Coupon?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ecosystem — roles, relationships, and value delivered by the platform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From the Current Process to the 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Side-by-side comparison of AS-IS and TO-BE campus event management processes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969709" y="4381500"/>
            <a:ext cx="4800609" cy="1252636"/>
            <a:chOff x="0" y="0"/>
            <a:chExt cx="155749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17682" y="4381500"/>
            <a:ext cx="4800609" cy="1252636"/>
            <a:chOff x="0" y="0"/>
            <a:chExt cx="155749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3246931"/>
            <a:ext cx="4174291" cy="626765"/>
            <a:chOff x="0" y="0"/>
            <a:chExt cx="2706646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6646" cy="406400"/>
            </a:xfrm>
            <a:custGeom>
              <a:avLst/>
              <a:gdLst/>
              <a:ahLst/>
              <a:cxnLst/>
              <a:rect r="r" b="b" t="t" l="l"/>
              <a:pathLst>
                <a:path h="406400" w="2706646">
                  <a:moveTo>
                    <a:pt x="25034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503446" y="406400"/>
                  </a:lnTo>
                  <a:lnTo>
                    <a:pt x="2706646" y="203200"/>
                  </a:lnTo>
                  <a:lnTo>
                    <a:pt x="2503446" y="0"/>
                  </a:lnTo>
                  <a:close/>
                </a:path>
              </a:pathLst>
            </a:custGeom>
            <a:solidFill>
              <a:srgbClr val="F4F6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-19050"/>
              <a:ext cx="24018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69709" y="3246931"/>
            <a:ext cx="4174291" cy="626765"/>
            <a:chOff x="0" y="0"/>
            <a:chExt cx="2706646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6646" cy="406400"/>
            </a:xfrm>
            <a:custGeom>
              <a:avLst/>
              <a:gdLst/>
              <a:ahLst/>
              <a:cxnLst/>
              <a:rect r="r" b="b" t="t" l="l"/>
              <a:pathLst>
                <a:path h="406400" w="2706646">
                  <a:moveTo>
                    <a:pt x="25034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503446" y="406400"/>
                  </a:lnTo>
                  <a:lnTo>
                    <a:pt x="2706646" y="203200"/>
                  </a:lnTo>
                  <a:lnTo>
                    <a:pt x="2503446" y="0"/>
                  </a:lnTo>
                  <a:close/>
                </a:path>
              </a:pathLst>
            </a:custGeom>
            <a:solidFill>
              <a:srgbClr val="F4F6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52400" y="-19050"/>
              <a:ext cx="24018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3246931"/>
            <a:ext cx="2165989" cy="626765"/>
            <a:chOff x="0" y="0"/>
            <a:chExt cx="140444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4446" cy="406400"/>
            </a:xfrm>
            <a:custGeom>
              <a:avLst/>
              <a:gdLst/>
              <a:ahLst/>
              <a:cxnLst/>
              <a:rect r="r" b="b" t="t" l="l"/>
              <a:pathLst>
                <a:path h="406400" w="1404446">
                  <a:moveTo>
                    <a:pt x="12012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201246" y="406400"/>
                  </a:lnTo>
                  <a:lnTo>
                    <a:pt x="1404446" y="203200"/>
                  </a:lnTo>
                  <a:lnTo>
                    <a:pt x="1201246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52400" y="-19050"/>
              <a:ext cx="10996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TO-BE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78011" y="3246931"/>
            <a:ext cx="2165989" cy="626765"/>
            <a:chOff x="0" y="0"/>
            <a:chExt cx="1404446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4446" cy="406400"/>
            </a:xfrm>
            <a:custGeom>
              <a:avLst/>
              <a:gdLst/>
              <a:ahLst/>
              <a:cxnLst/>
              <a:rect r="r" b="b" t="t" l="l"/>
              <a:pathLst>
                <a:path h="406400" w="1404446">
                  <a:moveTo>
                    <a:pt x="12012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201246" y="406400"/>
                  </a:lnTo>
                  <a:lnTo>
                    <a:pt x="1404446" y="203200"/>
                  </a:lnTo>
                  <a:lnTo>
                    <a:pt x="1201246" y="0"/>
                  </a:ln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52400" y="-19050"/>
              <a:ext cx="10996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AS-IS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17682" y="4381500"/>
            <a:ext cx="1252636" cy="1252636"/>
            <a:chOff x="0" y="0"/>
            <a:chExt cx="4064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406400" y="2032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52400" y="-19050"/>
              <a:ext cx="1016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147598" y="461761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Fragmented Channels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60818" y="461761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Central Event Platform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47598" y="4928788"/>
            <a:ext cx="217958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Event info spread across multiple uncoordinated channels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60818" y="4928788"/>
            <a:ext cx="217958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Single platform for event discovery, RSVP and updates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69709" y="7548119"/>
            <a:ext cx="4800609" cy="1252636"/>
            <a:chOff x="0" y="0"/>
            <a:chExt cx="1557490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17682" y="7548119"/>
            <a:ext cx="4800609" cy="1252636"/>
            <a:chOff x="0" y="0"/>
            <a:chExt cx="1557490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517682" y="7548119"/>
            <a:ext cx="1252636" cy="1252636"/>
            <a:chOff x="0" y="0"/>
            <a:chExt cx="4064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406400" y="2032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52400" y="-19050"/>
              <a:ext cx="1016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147598" y="7784235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Limited Data &amp; Uncertainty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60818" y="7784235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Reliable Records &amp;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47598" y="8095407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No reliable attendance data causes operational uncertainty and food waste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60818" y="8095407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Auto reward points, coupon wallet and records support operational decisions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969709" y="5964810"/>
            <a:ext cx="4800609" cy="1252636"/>
            <a:chOff x="0" y="0"/>
            <a:chExt cx="155749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517682" y="5964810"/>
            <a:ext cx="4800609" cy="1252636"/>
            <a:chOff x="0" y="0"/>
            <a:chExt cx="155749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17682" y="5964810"/>
            <a:ext cx="1252636" cy="1252636"/>
            <a:chOff x="0" y="0"/>
            <a:chExt cx="4064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406400" y="2032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52400" y="-19050"/>
              <a:ext cx="1016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147598" y="620092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Unpredictable Attendance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60818" y="620092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Verified Attendance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147598" y="6512098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Variable student awareness leads to unreliable RSVP and attendance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60818" y="6512098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 RSVP confirmed and attendance verified via unique QR code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87823" y="4832887"/>
            <a:ext cx="712355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87823" y="6428250"/>
            <a:ext cx="712355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787823" y="7999506"/>
            <a:ext cx="712355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 Scope &amp; Boundaries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Defining what is included, constrained, and assumed in Phase 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969709" y="4381500"/>
            <a:ext cx="4800609" cy="1252636"/>
            <a:chOff x="0" y="0"/>
            <a:chExt cx="155749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17682" y="4381500"/>
            <a:ext cx="4800609" cy="1252636"/>
            <a:chOff x="0" y="0"/>
            <a:chExt cx="155749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3246931"/>
            <a:ext cx="4174291" cy="626765"/>
            <a:chOff x="0" y="0"/>
            <a:chExt cx="2706646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6646" cy="406400"/>
            </a:xfrm>
            <a:custGeom>
              <a:avLst/>
              <a:gdLst/>
              <a:ahLst/>
              <a:cxnLst/>
              <a:rect r="r" b="b" t="t" l="l"/>
              <a:pathLst>
                <a:path h="406400" w="2706646">
                  <a:moveTo>
                    <a:pt x="25034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503446" y="406400"/>
                  </a:lnTo>
                  <a:lnTo>
                    <a:pt x="2706646" y="203200"/>
                  </a:lnTo>
                  <a:lnTo>
                    <a:pt x="2503446" y="0"/>
                  </a:lnTo>
                  <a:close/>
                </a:path>
              </a:pathLst>
            </a:custGeom>
            <a:solidFill>
              <a:srgbClr val="F4F6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-19050"/>
              <a:ext cx="24018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69709" y="3246931"/>
            <a:ext cx="4174291" cy="626765"/>
            <a:chOff x="0" y="0"/>
            <a:chExt cx="2706646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6646" cy="406400"/>
            </a:xfrm>
            <a:custGeom>
              <a:avLst/>
              <a:gdLst/>
              <a:ahLst/>
              <a:cxnLst/>
              <a:rect r="r" b="b" t="t" l="l"/>
              <a:pathLst>
                <a:path h="406400" w="2706646">
                  <a:moveTo>
                    <a:pt x="25034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503446" y="406400"/>
                  </a:lnTo>
                  <a:lnTo>
                    <a:pt x="2706646" y="203200"/>
                  </a:lnTo>
                  <a:lnTo>
                    <a:pt x="2503446" y="0"/>
                  </a:lnTo>
                  <a:close/>
                </a:path>
              </a:pathLst>
            </a:custGeom>
            <a:solidFill>
              <a:srgbClr val="F4F6F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52400" y="-19050"/>
              <a:ext cx="24018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3246931"/>
            <a:ext cx="2165989" cy="626765"/>
            <a:chOff x="0" y="0"/>
            <a:chExt cx="140444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4446" cy="406400"/>
            </a:xfrm>
            <a:custGeom>
              <a:avLst/>
              <a:gdLst/>
              <a:ahLst/>
              <a:cxnLst/>
              <a:rect r="r" b="b" t="t" l="l"/>
              <a:pathLst>
                <a:path h="406400" w="1404446">
                  <a:moveTo>
                    <a:pt x="12012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201246" y="406400"/>
                  </a:lnTo>
                  <a:lnTo>
                    <a:pt x="1404446" y="203200"/>
                  </a:lnTo>
                  <a:lnTo>
                    <a:pt x="1201246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52400" y="-19050"/>
              <a:ext cx="10996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CONSTRAINTS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78011" y="3246931"/>
            <a:ext cx="2165989" cy="626765"/>
            <a:chOff x="0" y="0"/>
            <a:chExt cx="1404446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4446" cy="406400"/>
            </a:xfrm>
            <a:custGeom>
              <a:avLst/>
              <a:gdLst/>
              <a:ahLst/>
              <a:cxnLst/>
              <a:rect r="r" b="b" t="t" l="l"/>
              <a:pathLst>
                <a:path h="406400" w="1404446">
                  <a:moveTo>
                    <a:pt x="1201246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201246" y="406400"/>
                  </a:lnTo>
                  <a:lnTo>
                    <a:pt x="1404446" y="203200"/>
                  </a:lnTo>
                  <a:lnTo>
                    <a:pt x="1201246" y="0"/>
                  </a:ln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52400" y="-19050"/>
              <a:ext cx="1099646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IN SCOPE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17682" y="4381500"/>
            <a:ext cx="1252636" cy="1252636"/>
            <a:chOff x="0" y="0"/>
            <a:chExt cx="406400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406400" y="2032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52400" y="-19050"/>
              <a:ext cx="1016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147598" y="461761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Event &amp; RSVP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60818" y="461761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Technology Stack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47598" y="4928788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Event creation, publishing, student RSVP (one per event), admin RSVP lists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60818" y="4928788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Flutter, ASP.NET &amp; Supabase mandated; stable internet dependency required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69709" y="7548119"/>
            <a:ext cx="4800609" cy="1252636"/>
            <a:chOff x="0" y="0"/>
            <a:chExt cx="1557490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17682" y="7548119"/>
            <a:ext cx="4800609" cy="1252636"/>
            <a:chOff x="0" y="0"/>
            <a:chExt cx="1557490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517682" y="7548119"/>
            <a:ext cx="1252636" cy="1252636"/>
            <a:chOff x="0" y="0"/>
            <a:chExt cx="4064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406400" y="2032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52400" y="-19050"/>
              <a:ext cx="1016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147598" y="7784235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Auth &amp; Records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60818" y="7784235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Assumptions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47598" y="8095407"/>
            <a:ext cx="217958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Role-based access, user authentication, event/attendance/reward records, testing evidence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60818" y="8095407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Only documented assumptions from SRS apply; CUT admin approval required for deployment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969709" y="5964810"/>
            <a:ext cx="4800609" cy="1252636"/>
            <a:chOff x="0" y="0"/>
            <a:chExt cx="155749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517682" y="5964810"/>
            <a:ext cx="4800609" cy="1252636"/>
            <a:chOff x="0" y="0"/>
            <a:chExt cx="155749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7490" cy="406400"/>
            </a:xfrm>
            <a:custGeom>
              <a:avLst/>
              <a:gdLst/>
              <a:ahLst/>
              <a:cxnLst/>
              <a:rect r="r" b="b" t="t" l="l"/>
              <a:pathLst>
                <a:path h="406400" w="1557490">
                  <a:moveTo>
                    <a:pt x="135429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354290" y="406400"/>
                  </a:lnTo>
                  <a:lnTo>
                    <a:pt x="1557490" y="203200"/>
                  </a:lnTo>
                  <a:lnTo>
                    <a:pt x="1354290" y="0"/>
                  </a:ln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152400" y="-19050"/>
              <a:ext cx="125269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17682" y="5964810"/>
            <a:ext cx="1252636" cy="1252636"/>
            <a:chOff x="0" y="0"/>
            <a:chExt cx="4064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406400" y="2032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52400" y="-19050"/>
              <a:ext cx="101600" cy="42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147598" y="620092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Attendance &amp; Rewards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60818" y="6200926"/>
            <a:ext cx="2179584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Schedule &amp; Access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147598" y="6512098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QR attendance verification, auto reward points, coupon wallet, redemption records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60818" y="6512098"/>
            <a:ext cx="21795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ITC327W academic timeline; no assumed access to existing CUT APIs or systems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87823" y="4832887"/>
            <a:ext cx="712355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87823" y="6428250"/>
            <a:ext cx="712355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787823" y="7999506"/>
            <a:ext cx="712355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8"/>
              </a:lnSpc>
            </a:pPr>
            <a:r>
              <a:rPr lang="en-US" b="true" sz="23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9969" y="4191000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4"/>
                </a:lnTo>
                <a:lnTo>
                  <a:pt x="0" y="3073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70294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80618" y="4191000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4"/>
                </a:lnTo>
                <a:lnTo>
                  <a:pt x="0" y="3073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0943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>
            <a:off x="2524036" y="6444347"/>
            <a:ext cx="3308212" cy="1445458"/>
          </a:xfrm>
          <a:custGeom>
            <a:avLst/>
            <a:gdLst/>
            <a:ahLst/>
            <a:cxnLst/>
            <a:rect r="r" b="b" t="t" l="l"/>
            <a:pathLst>
              <a:path h="1445458" w="3308212">
                <a:moveTo>
                  <a:pt x="3308212" y="1014100"/>
                </a:moveTo>
                <a:quadBezTo>
                  <a:pt x="1124394" y="2235084"/>
                  <a:pt x="0" y="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9141219" y="6408217"/>
            <a:ext cx="3283688" cy="1465952"/>
          </a:xfrm>
          <a:custGeom>
            <a:avLst/>
            <a:gdLst/>
            <a:ahLst/>
            <a:cxnLst/>
            <a:rect r="r" b="b" t="t" l="l"/>
            <a:pathLst>
              <a:path h="1465952" w="3283688">
                <a:moveTo>
                  <a:pt x="3283688" y="1050230"/>
                </a:moveTo>
                <a:quadBezTo>
                  <a:pt x="1091253" y="2246610"/>
                  <a:pt x="0" y="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5886897" y="6408217"/>
            <a:ext cx="3254322" cy="1465296"/>
          </a:xfrm>
          <a:custGeom>
            <a:avLst/>
            <a:gdLst/>
            <a:ahLst/>
            <a:cxnLst/>
            <a:rect r="r" b="b" t="t" l="l"/>
            <a:pathLst>
              <a:path h="1465296" w="3254322">
                <a:moveTo>
                  <a:pt x="3254322" y="0"/>
                </a:moveTo>
                <a:quadBezTo>
                  <a:pt x="2182253" y="2245164"/>
                  <a:pt x="0" y="105023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12452897" y="6424463"/>
            <a:ext cx="3311067" cy="1457072"/>
          </a:xfrm>
          <a:custGeom>
            <a:avLst/>
            <a:gdLst/>
            <a:ahLst/>
            <a:cxnLst/>
            <a:rect r="r" b="b" t="t" l="l"/>
            <a:pathLst>
              <a:path h="1457072" w="3311067">
                <a:moveTo>
                  <a:pt x="3311067" y="0"/>
                </a:moveTo>
                <a:quadBezTo>
                  <a:pt x="2194292" y="2242227"/>
                  <a:pt x="0" y="1033984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330393" y="6020931"/>
            <a:ext cx="387286" cy="3872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38605" y="7071162"/>
            <a:ext cx="387286" cy="38728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59254" y="7071162"/>
            <a:ext cx="387286" cy="3872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47576" y="6020931"/>
            <a:ext cx="387286" cy="3872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69579" y="6020931"/>
            <a:ext cx="387286" cy="3872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317956" y="3534192"/>
            <a:ext cx="437185" cy="558703"/>
          </a:xfrm>
          <a:custGeom>
            <a:avLst/>
            <a:gdLst/>
            <a:ahLst/>
            <a:cxnLst/>
            <a:rect r="r" b="b" t="t" l="l"/>
            <a:pathLst>
              <a:path h="558703" w="437185">
                <a:moveTo>
                  <a:pt x="0" y="0"/>
                </a:moveTo>
                <a:lnTo>
                  <a:pt x="437186" y="0"/>
                </a:lnTo>
                <a:lnTo>
                  <a:pt x="437186" y="558703"/>
                </a:lnTo>
                <a:lnTo>
                  <a:pt x="0" y="558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611488" y="4625839"/>
            <a:ext cx="447238" cy="511781"/>
          </a:xfrm>
          <a:custGeom>
            <a:avLst/>
            <a:gdLst/>
            <a:ahLst/>
            <a:cxnLst/>
            <a:rect r="r" b="b" t="t" l="l"/>
            <a:pathLst>
              <a:path h="511781" w="447238">
                <a:moveTo>
                  <a:pt x="0" y="0"/>
                </a:moveTo>
                <a:lnTo>
                  <a:pt x="447238" y="0"/>
                </a:lnTo>
                <a:lnTo>
                  <a:pt x="447238" y="511781"/>
                </a:lnTo>
                <a:lnTo>
                  <a:pt x="0" y="5117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38826" y="3623865"/>
            <a:ext cx="432871" cy="413378"/>
          </a:xfrm>
          <a:custGeom>
            <a:avLst/>
            <a:gdLst/>
            <a:ahLst/>
            <a:cxnLst/>
            <a:rect r="r" b="b" t="t" l="l"/>
            <a:pathLst>
              <a:path h="413378" w="432871">
                <a:moveTo>
                  <a:pt x="0" y="0"/>
                </a:moveTo>
                <a:lnTo>
                  <a:pt x="432871" y="0"/>
                </a:lnTo>
                <a:lnTo>
                  <a:pt x="432871" y="413378"/>
                </a:lnTo>
                <a:lnTo>
                  <a:pt x="0" y="4133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10342" y="4609347"/>
            <a:ext cx="560213" cy="535980"/>
          </a:xfrm>
          <a:custGeom>
            <a:avLst/>
            <a:gdLst/>
            <a:ahLst/>
            <a:cxnLst/>
            <a:rect r="r" b="b" t="t" l="l"/>
            <a:pathLst>
              <a:path h="535980" w="560213">
                <a:moveTo>
                  <a:pt x="0" y="0"/>
                </a:moveTo>
                <a:lnTo>
                  <a:pt x="560214" y="0"/>
                </a:lnTo>
                <a:lnTo>
                  <a:pt x="560214" y="535980"/>
                </a:lnTo>
                <a:lnTo>
                  <a:pt x="0" y="5359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501215" y="3544116"/>
            <a:ext cx="523875" cy="569366"/>
          </a:xfrm>
          <a:custGeom>
            <a:avLst/>
            <a:gdLst/>
            <a:ahLst/>
            <a:cxnLst/>
            <a:rect r="r" b="b" t="t" l="l"/>
            <a:pathLst>
              <a:path h="569366" w="523875">
                <a:moveTo>
                  <a:pt x="0" y="0"/>
                </a:moveTo>
                <a:lnTo>
                  <a:pt x="523875" y="0"/>
                </a:lnTo>
                <a:lnTo>
                  <a:pt x="523875" y="569365"/>
                </a:lnTo>
                <a:lnTo>
                  <a:pt x="0" y="5693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What the Stakeholder Told 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Input → Requirement → System Response | Meeting: 26 August 2026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4392" y="468719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Attendance Control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32186" y="468719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Unique QR Code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23289" y="573742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Admin Registers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52835" y="468719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Reward Policy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43938" y="573742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Cafeteria Rules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9606" y="5001512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Track &amp; control student attendance at CUT events → Verified attendance register per event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47400" y="5001512"/>
            <a:ext cx="2190345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Unique, date-specific QR code per event; one event per day; QR visible at event end for traffic flow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38503" y="6051742"/>
            <a:ext cx="2190345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Administrator access to RSVP lists and attendance registers per event for reporting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68049" y="5001512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Points awarded after SRC vote &amp; on initial sign-up; Governance &amp; Student Life manage prize allocation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59152" y="6051742"/>
            <a:ext cx="219034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Minimum points threshold for redemption; 1 pt = R1.00; spend threshold before attending further events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3452824"/>
            <a:ext cx="5334000" cy="2268262"/>
            <a:chOff x="0" y="0"/>
            <a:chExt cx="1404840" cy="597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361395" y="4401036"/>
            <a:ext cx="1936492" cy="371840"/>
            <a:chOff x="0" y="0"/>
            <a:chExt cx="510023" cy="97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8"/>
                </a:lnSpc>
              </a:pPr>
              <a:r>
                <a:rPr lang="en-US" b="true" sz="13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Auth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98486" y="4305382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User registration and sign-in. Role-based access control for students, admins, and cafeteria staff.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6096000"/>
            <a:ext cx="5334000" cy="2268262"/>
            <a:chOff x="0" y="0"/>
            <a:chExt cx="1404840" cy="597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361395" y="7044211"/>
            <a:ext cx="1936492" cy="371840"/>
            <a:chOff x="0" y="0"/>
            <a:chExt cx="510023" cy="97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8"/>
                </a:lnSpc>
              </a:pPr>
              <a:r>
                <a:rPr lang="en-US" b="true" sz="13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Attend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98486" y="6948558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Admin verifies attendance via unique QR code. Attendance register generated per event.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53196" y="3738574"/>
            <a:ext cx="738176" cy="73817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53196" y="6381750"/>
            <a:ext cx="738176" cy="7381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7000" y="3452824"/>
            <a:ext cx="5334000" cy="2268262"/>
            <a:chOff x="0" y="0"/>
            <a:chExt cx="1404840" cy="5974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25115" y="4429199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Create, update, and publish events. Students view event details and availability.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77000" y="6096000"/>
            <a:ext cx="5334000" cy="2268262"/>
            <a:chOff x="0" y="0"/>
            <a:chExt cx="1404840" cy="5974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5885174" y="4401036"/>
            <a:ext cx="1936492" cy="371840"/>
            <a:chOff x="0" y="0"/>
            <a:chExt cx="510023" cy="979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8"/>
                </a:lnSpc>
              </a:pPr>
              <a:r>
                <a:rPr lang="en-US" b="true" sz="13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Events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5885174" y="7044211"/>
            <a:ext cx="1936492" cy="371840"/>
            <a:chOff x="0" y="0"/>
            <a:chExt cx="510023" cy="979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8"/>
                </a:lnSpc>
              </a:pPr>
              <a:r>
                <a:rPr lang="en-US" b="true" sz="13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Rewards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525115" y="6948558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Automatic points awarded after verified attendance. Students view wallet balance and history.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777696" y="3738574"/>
            <a:ext cx="738176" cy="738176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77696" y="6381750"/>
            <a:ext cx="738176" cy="73817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01500" y="3452824"/>
            <a:ext cx="5334000" cy="2268262"/>
            <a:chOff x="0" y="0"/>
            <a:chExt cx="1404840" cy="5974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1409674" y="4401036"/>
            <a:ext cx="1936492" cy="371840"/>
            <a:chOff x="0" y="0"/>
            <a:chExt cx="510023" cy="979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F7C91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8"/>
                </a:lnSpc>
              </a:pPr>
              <a:r>
                <a:rPr lang="en-US" b="true" sz="1399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RSVP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040090" y="4429199"/>
            <a:ext cx="3216610" cy="4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 RSVP limited to one per event. Admins access full RSVP lists per event.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01500" y="6096000"/>
            <a:ext cx="5334000" cy="2268262"/>
            <a:chOff x="0" y="0"/>
            <a:chExt cx="1404840" cy="5974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11409674" y="7044211"/>
            <a:ext cx="1936492" cy="371840"/>
            <a:chOff x="0" y="0"/>
            <a:chExt cx="510023" cy="9793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8"/>
                </a:lnSpc>
              </a:pPr>
              <a:r>
                <a:rPr lang="en-US" b="true" sz="13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Redeem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040090" y="6948558"/>
            <a:ext cx="3216610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Eligible cafeteria redemption of points. Balance reduced on redemption with full transaction record.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302196" y="3738574"/>
            <a:ext cx="738176" cy="738176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914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302196" y="6381750"/>
            <a:ext cx="738176" cy="738176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5461338" y="3873577"/>
            <a:ext cx="318781" cy="443492"/>
          </a:xfrm>
          <a:custGeom>
            <a:avLst/>
            <a:gdLst/>
            <a:ahLst/>
            <a:cxnLst/>
            <a:rect r="r" b="b" t="t" l="l"/>
            <a:pathLst>
              <a:path h="443492" w="318781">
                <a:moveTo>
                  <a:pt x="0" y="0"/>
                </a:moveTo>
                <a:lnTo>
                  <a:pt x="318782" y="0"/>
                </a:lnTo>
                <a:lnTo>
                  <a:pt x="318782" y="443491"/>
                </a:lnTo>
                <a:lnTo>
                  <a:pt x="0" y="443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0976551" y="3945002"/>
            <a:ext cx="340170" cy="314348"/>
          </a:xfrm>
          <a:custGeom>
            <a:avLst/>
            <a:gdLst/>
            <a:ahLst/>
            <a:cxnLst/>
            <a:rect r="r" b="b" t="t" l="l"/>
            <a:pathLst>
              <a:path h="314348" w="340170">
                <a:moveTo>
                  <a:pt x="0" y="0"/>
                </a:moveTo>
                <a:lnTo>
                  <a:pt x="340170" y="0"/>
                </a:lnTo>
                <a:lnTo>
                  <a:pt x="340170" y="314348"/>
                </a:lnTo>
                <a:lnTo>
                  <a:pt x="0" y="314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6512178" y="3910363"/>
            <a:ext cx="314325" cy="401016"/>
          </a:xfrm>
          <a:custGeom>
            <a:avLst/>
            <a:gdLst/>
            <a:ahLst/>
            <a:cxnLst/>
            <a:rect r="r" b="b" t="t" l="l"/>
            <a:pathLst>
              <a:path h="401016" w="314325">
                <a:moveTo>
                  <a:pt x="0" y="0"/>
                </a:moveTo>
                <a:lnTo>
                  <a:pt x="314325" y="0"/>
                </a:lnTo>
                <a:lnTo>
                  <a:pt x="314325" y="401016"/>
                </a:lnTo>
                <a:lnTo>
                  <a:pt x="0" y="401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5463534" y="6593846"/>
            <a:ext cx="317468" cy="315164"/>
          </a:xfrm>
          <a:custGeom>
            <a:avLst/>
            <a:gdLst/>
            <a:ahLst/>
            <a:cxnLst/>
            <a:rect r="r" b="b" t="t" l="l"/>
            <a:pathLst>
              <a:path h="315164" w="317468">
                <a:moveTo>
                  <a:pt x="0" y="0"/>
                </a:moveTo>
                <a:lnTo>
                  <a:pt x="317468" y="0"/>
                </a:lnTo>
                <a:lnTo>
                  <a:pt x="317468" y="315164"/>
                </a:lnTo>
                <a:lnTo>
                  <a:pt x="0" y="315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6501282" y="6509994"/>
            <a:ext cx="314325" cy="459014"/>
          </a:xfrm>
          <a:custGeom>
            <a:avLst/>
            <a:gdLst/>
            <a:ahLst/>
            <a:cxnLst/>
            <a:rect r="r" b="b" t="t" l="l"/>
            <a:pathLst>
              <a:path h="459014" w="314325">
                <a:moveTo>
                  <a:pt x="0" y="0"/>
                </a:moveTo>
                <a:lnTo>
                  <a:pt x="314325" y="0"/>
                </a:lnTo>
                <a:lnTo>
                  <a:pt x="314325" y="459014"/>
                </a:lnTo>
                <a:lnTo>
                  <a:pt x="0" y="459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0990146" y="6593252"/>
            <a:ext cx="286767" cy="284662"/>
          </a:xfrm>
          <a:custGeom>
            <a:avLst/>
            <a:gdLst/>
            <a:ahLst/>
            <a:cxnLst/>
            <a:rect r="r" b="b" t="t" l="l"/>
            <a:pathLst>
              <a:path h="284662" w="286767">
                <a:moveTo>
                  <a:pt x="0" y="0"/>
                </a:moveTo>
                <a:lnTo>
                  <a:pt x="286766" y="0"/>
                </a:lnTo>
                <a:lnTo>
                  <a:pt x="286766" y="284662"/>
                </a:lnTo>
                <a:lnTo>
                  <a:pt x="0" y="2846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3040090" y="4027846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RSVP System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98486" y="3904029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Authentication &amp; Access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998486" y="6547205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Attendance Verification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525115" y="4027846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Event Management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525115" y="6547205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Rewards &amp; Wallet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040090" y="6547205"/>
            <a:ext cx="2418559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Redemption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Core Functional Requirements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Grouped by feature area – Campus Coupon system capabilities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Quality, Security &amp; Responsible Data Handling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9031" y="1866052"/>
            <a:ext cx="9069938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Non-functional requirements, security standards, and ethical data practices for Campus Coupon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12999" y="3087772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10" y="0"/>
                </a:lnTo>
                <a:lnTo>
                  <a:pt x="3492410" y="3199920"/>
                </a:lnTo>
                <a:lnTo>
                  <a:pt x="0" y="3199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3695" y="3477446"/>
            <a:ext cx="486527" cy="415162"/>
          </a:xfrm>
          <a:custGeom>
            <a:avLst/>
            <a:gdLst/>
            <a:ahLst/>
            <a:cxnLst/>
            <a:rect r="r" b="b" t="t" l="l"/>
            <a:pathLst>
              <a:path h="415162" w="486527">
                <a:moveTo>
                  <a:pt x="0" y="0"/>
                </a:moveTo>
                <a:lnTo>
                  <a:pt x="486527" y="0"/>
                </a:lnTo>
                <a:lnTo>
                  <a:pt x="486527" y="415162"/>
                </a:lnTo>
                <a:lnTo>
                  <a:pt x="0" y="415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3105" y="3916184"/>
            <a:ext cx="2352322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Usability &amp;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3105" y="4317537"/>
            <a:ext cx="209572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Intuitive UI for all roles. Fast response times. Consistent availability and reliable system uptime across Flutter and ASP.NET layers.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374342" y="4610579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10" y="0"/>
                </a:lnTo>
                <a:lnTo>
                  <a:pt x="3492410" y="3199921"/>
                </a:lnTo>
                <a:lnTo>
                  <a:pt x="0" y="31999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44448" y="5438992"/>
            <a:ext cx="2352322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Security &amp; Access Control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4448" y="5840345"/>
            <a:ext cx="209572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Role-based access control. Prevention of unauthorised access. Activity monitoring. Malware and scam awareness measures enforced.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226061" y="3087772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09" y="0"/>
                </a:lnTo>
                <a:lnTo>
                  <a:pt x="3492409" y="3199920"/>
                </a:lnTo>
                <a:lnTo>
                  <a:pt x="0" y="3199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6167" y="3916184"/>
            <a:ext cx="2352322" cy="3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Data Integrity &amp; Confidentiality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6167" y="4317537"/>
            <a:ext cx="209572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Accurate attendance, RSVP, and reward records. Confidentiality agreements in place. Student information protected at all system layers.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87403" y="4610579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10" y="0"/>
                </a:lnTo>
                <a:lnTo>
                  <a:pt x="3492410" y="3199921"/>
                </a:lnTo>
                <a:lnTo>
                  <a:pt x="0" y="3199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57509" y="5438992"/>
            <a:ext cx="2352322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POPIA &amp; Ethical Standards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57509" y="5840345"/>
            <a:ext cx="209572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Full POPIA compliance. Adherence to CUT policies and ethical standards. Responsible handling of stakeholder and student data throughout.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74196" y="4889984"/>
            <a:ext cx="424145" cy="588862"/>
          </a:xfrm>
          <a:custGeom>
            <a:avLst/>
            <a:gdLst/>
            <a:ahLst/>
            <a:cxnLst/>
            <a:rect r="r" b="b" t="t" l="l"/>
            <a:pathLst>
              <a:path h="588862" w="424145">
                <a:moveTo>
                  <a:pt x="0" y="0"/>
                </a:moveTo>
                <a:lnTo>
                  <a:pt x="424145" y="0"/>
                </a:lnTo>
                <a:lnTo>
                  <a:pt x="424145" y="588862"/>
                </a:lnTo>
                <a:lnTo>
                  <a:pt x="0" y="5888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09110" y="3378389"/>
            <a:ext cx="471439" cy="577603"/>
          </a:xfrm>
          <a:custGeom>
            <a:avLst/>
            <a:gdLst/>
            <a:ahLst/>
            <a:cxnLst/>
            <a:rect r="r" b="b" t="t" l="l"/>
            <a:pathLst>
              <a:path h="577603" w="471439">
                <a:moveTo>
                  <a:pt x="0" y="0"/>
                </a:moveTo>
                <a:lnTo>
                  <a:pt x="471440" y="0"/>
                </a:lnTo>
                <a:lnTo>
                  <a:pt x="471440" y="577604"/>
                </a:lnTo>
                <a:lnTo>
                  <a:pt x="0" y="5776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434410" y="4992811"/>
            <a:ext cx="373930" cy="392744"/>
          </a:xfrm>
          <a:custGeom>
            <a:avLst/>
            <a:gdLst/>
            <a:ahLst/>
            <a:cxnLst/>
            <a:rect r="r" b="b" t="t" l="l"/>
            <a:pathLst>
              <a:path h="392744" w="373930">
                <a:moveTo>
                  <a:pt x="0" y="0"/>
                </a:moveTo>
                <a:lnTo>
                  <a:pt x="373930" y="0"/>
                </a:lnTo>
                <a:lnTo>
                  <a:pt x="373930" y="392744"/>
                </a:lnTo>
                <a:lnTo>
                  <a:pt x="0" y="3927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91625" y="595532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0" y="0"/>
                </a:moveTo>
                <a:lnTo>
                  <a:pt x="2185917" y="0"/>
                </a:lnTo>
                <a:lnTo>
                  <a:pt x="2185917" y="2185916"/>
                </a:lnTo>
                <a:lnTo>
                  <a:pt x="0" y="218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910458" y="366976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0" y="0"/>
                </a:moveTo>
                <a:lnTo>
                  <a:pt x="2185917" y="0"/>
                </a:lnTo>
                <a:lnTo>
                  <a:pt x="2185917" y="2185916"/>
                </a:lnTo>
                <a:lnTo>
                  <a:pt x="0" y="2185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910458" y="595532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2185917" y="0"/>
                </a:moveTo>
                <a:lnTo>
                  <a:pt x="0" y="0"/>
                </a:lnTo>
                <a:lnTo>
                  <a:pt x="0" y="2185916"/>
                </a:lnTo>
                <a:lnTo>
                  <a:pt x="2185917" y="2185916"/>
                </a:lnTo>
                <a:lnTo>
                  <a:pt x="21859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9191625" y="366976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2185917" y="0"/>
                </a:moveTo>
                <a:lnTo>
                  <a:pt x="0" y="0"/>
                </a:lnTo>
                <a:lnTo>
                  <a:pt x="0" y="2185916"/>
                </a:lnTo>
                <a:lnTo>
                  <a:pt x="2185917" y="2185916"/>
                </a:lnTo>
                <a:lnTo>
                  <a:pt x="21859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Integrated Solution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How Flutter, ASP.NET, and Supabase work together to power Campus Coupon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139542" y="3838217"/>
            <a:ext cx="440085" cy="44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91"/>
                </a:lnSpc>
              </a:pPr>
              <a:r>
                <a:rPr lang="en-US" b="true" sz="1565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08373" y="3838217"/>
            <a:ext cx="440085" cy="4400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91"/>
                </a:lnSpc>
              </a:pPr>
              <a:r>
                <a:rPr lang="en-US" b="true" sz="1565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139542" y="4559480"/>
            <a:ext cx="2418559" cy="21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1"/>
              </a:lnSpc>
            </a:pPr>
            <a:r>
              <a:rPr lang="en-US" b="true" sz="156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ASP.NET API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9899" y="4559480"/>
            <a:ext cx="2418559" cy="21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21"/>
              </a:lnSpc>
            </a:pPr>
            <a:r>
              <a:rPr lang="en-US" b="true" sz="156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Flutter UI Layer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39542" y="4951308"/>
            <a:ext cx="3216610" cy="7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7"/>
              </a:lnSpc>
            </a:pPr>
            <a:r>
              <a:rPr lang="en-US" sz="136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Application services &amp; business logic. REST API endpoints, validation, reward calculations, and system integration.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1848" y="4951308"/>
            <a:ext cx="3216610" cy="7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17"/>
              </a:lnSpc>
            </a:pPr>
            <a:r>
              <a:rPr lang="en-US" sz="136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 &amp; admin interfaces (mobile/web). Event discovery, RSVP, QR scanning, coupon wallet, and role-based dashboards.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39542" y="6123777"/>
            <a:ext cx="440085" cy="44008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91"/>
                </a:lnSpc>
              </a:pPr>
              <a:r>
                <a:rPr lang="en-US" b="true" sz="1565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08373" y="6123777"/>
            <a:ext cx="440085" cy="44008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91"/>
                </a:lnSpc>
              </a:pPr>
              <a:r>
                <a:rPr lang="en-US" b="true" sz="1565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39542" y="6845040"/>
            <a:ext cx="2418559" cy="21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1"/>
              </a:lnSpc>
            </a:pPr>
            <a:r>
              <a:rPr lang="en-US" b="true" sz="156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Core Data Entities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9899" y="6845040"/>
            <a:ext cx="2418559" cy="21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21"/>
              </a:lnSpc>
            </a:pPr>
            <a:r>
              <a:rPr lang="en-US" b="true" sz="1565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Supabase Backend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39542" y="7236868"/>
            <a:ext cx="3216610" cy="7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7"/>
              </a:lnSpc>
            </a:pPr>
            <a:r>
              <a:rPr lang="en-US" sz="136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Events, Users, RSVPs, Attendance records, Reward points, Redemptions, and transaction history.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31848" y="7236868"/>
            <a:ext cx="3216610" cy="7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17"/>
              </a:lnSpc>
            </a:pPr>
            <a:r>
              <a:rPr lang="en-US" sz="136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Authentication, database, storage &amp; access control. Manages users, roles, and secure data persistence.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783221" y="4364336"/>
            <a:ext cx="436668" cy="795750"/>
          </a:xfrm>
          <a:custGeom>
            <a:avLst/>
            <a:gdLst/>
            <a:ahLst/>
            <a:cxnLst/>
            <a:rect r="r" b="b" t="t" l="l"/>
            <a:pathLst>
              <a:path h="795750" w="436668">
                <a:moveTo>
                  <a:pt x="0" y="0"/>
                </a:moveTo>
                <a:lnTo>
                  <a:pt x="436668" y="0"/>
                </a:lnTo>
                <a:lnTo>
                  <a:pt x="436668" y="795750"/>
                </a:lnTo>
                <a:lnTo>
                  <a:pt x="0" y="79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13579" y="4425875"/>
            <a:ext cx="666750" cy="680257"/>
          </a:xfrm>
          <a:custGeom>
            <a:avLst/>
            <a:gdLst/>
            <a:ahLst/>
            <a:cxnLst/>
            <a:rect r="r" b="b" t="t" l="l"/>
            <a:pathLst>
              <a:path h="680257" w="666750">
                <a:moveTo>
                  <a:pt x="0" y="0"/>
                </a:moveTo>
                <a:lnTo>
                  <a:pt x="666750" y="0"/>
                </a:lnTo>
                <a:lnTo>
                  <a:pt x="666750" y="680257"/>
                </a:lnTo>
                <a:lnTo>
                  <a:pt x="0" y="6802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946708" y="6586752"/>
            <a:ext cx="676516" cy="827233"/>
          </a:xfrm>
          <a:custGeom>
            <a:avLst/>
            <a:gdLst/>
            <a:ahLst/>
            <a:cxnLst/>
            <a:rect r="r" b="b" t="t" l="l"/>
            <a:pathLst>
              <a:path h="827233" w="676516">
                <a:moveTo>
                  <a:pt x="0" y="0"/>
                </a:moveTo>
                <a:lnTo>
                  <a:pt x="676516" y="0"/>
                </a:lnTo>
                <a:lnTo>
                  <a:pt x="676516" y="827233"/>
                </a:lnTo>
                <a:lnTo>
                  <a:pt x="0" y="8272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765494" y="6677962"/>
            <a:ext cx="661840" cy="740949"/>
          </a:xfrm>
          <a:custGeom>
            <a:avLst/>
            <a:gdLst/>
            <a:ahLst/>
            <a:cxnLst/>
            <a:rect r="r" b="b" t="t" l="l"/>
            <a:pathLst>
              <a:path h="740949" w="661840">
                <a:moveTo>
                  <a:pt x="0" y="0"/>
                </a:moveTo>
                <a:lnTo>
                  <a:pt x="661841" y="0"/>
                </a:lnTo>
                <a:lnTo>
                  <a:pt x="661841" y="740949"/>
                </a:lnTo>
                <a:lnTo>
                  <a:pt x="0" y="7409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3452824"/>
            <a:ext cx="5334000" cy="2268262"/>
            <a:chOff x="0" y="0"/>
            <a:chExt cx="1404840" cy="597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361395" y="4401036"/>
            <a:ext cx="1936492" cy="371840"/>
            <a:chOff x="0" y="0"/>
            <a:chExt cx="510023" cy="97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Technical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98486" y="4305382"/>
            <a:ext cx="3216610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Flutter, ASP.NET, and Supabase are proven, well-supported technologies. Team skills align with required stack. Development environment is accessible and documented.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6096000"/>
            <a:ext cx="5334000" cy="2268262"/>
            <a:chOff x="0" y="0"/>
            <a:chExt cx="1404840" cy="597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361395" y="7044211"/>
            <a:ext cx="1936492" cy="371840"/>
            <a:chOff x="0" y="0"/>
            <a:chExt cx="510023" cy="97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Schedule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98486" y="6948558"/>
            <a:ext cx="3216610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Project phases align with ITC327W academic schedule. Microsoft Project plan establishes realistic milestones, dependencies, and responsibilities within the available timeframe.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53196" y="3738574"/>
            <a:ext cx="738176" cy="73817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53196" y="6381750"/>
            <a:ext cx="738176" cy="7381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7000" y="3452824"/>
            <a:ext cx="5334000" cy="2268262"/>
            <a:chOff x="0" y="0"/>
            <a:chExt cx="1404840" cy="5974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25115" y="4429199"/>
            <a:ext cx="321661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Solution addresses confirmed stakeholder needs at CUT Welkom Campus. Roles and workflows align with existing student and admin processes.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477000" y="6096000"/>
            <a:ext cx="5334000" cy="2268262"/>
            <a:chOff x="0" y="0"/>
            <a:chExt cx="1404840" cy="5974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5885174" y="4401036"/>
            <a:ext cx="1936492" cy="371840"/>
            <a:chOff x="0" y="0"/>
            <a:chExt cx="510023" cy="979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Operational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5885174" y="7044211"/>
            <a:ext cx="1936492" cy="371840"/>
            <a:chOff x="0" y="0"/>
            <a:chExt cx="510023" cy="979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Legal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525115" y="6948558"/>
            <a:ext cx="3216610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POPIA compliance considered in data handling design. Role-based access and confidentiality agreements address privacy obligations. CUT policies and ethical standards observed.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777696" y="3738574"/>
            <a:ext cx="738176" cy="738176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77696" y="6381750"/>
            <a:ext cx="738176" cy="73817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01500" y="3452824"/>
            <a:ext cx="5334000" cy="2268262"/>
            <a:chOff x="0" y="0"/>
            <a:chExt cx="1404840" cy="5974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1409674" y="4401036"/>
            <a:ext cx="1936492" cy="371840"/>
            <a:chOff x="0" y="0"/>
            <a:chExt cx="510023" cy="979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F7C91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Economic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040090" y="4429199"/>
            <a:ext cx="3216610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Prototype development uses open-source and free-tier tools. No significant hardware expenditure required. Resource requirements are within academic project scope.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01500" y="6096000"/>
            <a:ext cx="5334000" cy="2268262"/>
            <a:chOff x="0" y="0"/>
            <a:chExt cx="1404840" cy="5974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4840" cy="597402"/>
            </a:xfrm>
            <a:custGeom>
              <a:avLst/>
              <a:gdLst/>
              <a:ahLst/>
              <a:cxnLst/>
              <a:rect r="r" b="b" t="t" l="l"/>
              <a:pathLst>
                <a:path h="597402" w="1404840">
                  <a:moveTo>
                    <a:pt x="37737" y="0"/>
                  </a:moveTo>
                  <a:lnTo>
                    <a:pt x="1367102" y="0"/>
                  </a:lnTo>
                  <a:cubicBezTo>
                    <a:pt x="1387944" y="0"/>
                    <a:pt x="1404840" y="16895"/>
                    <a:pt x="1404840" y="37737"/>
                  </a:cubicBezTo>
                  <a:lnTo>
                    <a:pt x="1404840" y="559665"/>
                  </a:lnTo>
                  <a:cubicBezTo>
                    <a:pt x="1404840" y="569674"/>
                    <a:pt x="1400864" y="579272"/>
                    <a:pt x="1393787" y="586349"/>
                  </a:cubicBezTo>
                  <a:cubicBezTo>
                    <a:pt x="1386710" y="593426"/>
                    <a:pt x="1377111" y="597402"/>
                    <a:pt x="1367102" y="597402"/>
                  </a:cubicBezTo>
                  <a:lnTo>
                    <a:pt x="37737" y="597402"/>
                  </a:lnTo>
                  <a:cubicBezTo>
                    <a:pt x="27729" y="597402"/>
                    <a:pt x="18130" y="593426"/>
                    <a:pt x="11053" y="586349"/>
                  </a:cubicBezTo>
                  <a:cubicBezTo>
                    <a:pt x="3976" y="579272"/>
                    <a:pt x="0" y="569674"/>
                    <a:pt x="0" y="559665"/>
                  </a:cubicBezTo>
                  <a:lnTo>
                    <a:pt x="0" y="37737"/>
                  </a:lnTo>
                  <a:cubicBezTo>
                    <a:pt x="0" y="27729"/>
                    <a:pt x="3976" y="18130"/>
                    <a:pt x="11053" y="11053"/>
                  </a:cubicBezTo>
                  <a:cubicBezTo>
                    <a:pt x="18130" y="3976"/>
                    <a:pt x="27729" y="0"/>
                    <a:pt x="37737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04840" cy="616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11409674" y="7044211"/>
            <a:ext cx="1936492" cy="371840"/>
            <a:chOff x="0" y="0"/>
            <a:chExt cx="510023" cy="9793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0023" cy="97933"/>
            </a:xfrm>
            <a:custGeom>
              <a:avLst/>
              <a:gdLst/>
              <a:ahLst/>
              <a:cxnLst/>
              <a:rect r="r" b="b" t="t" l="l"/>
              <a:pathLst>
                <a:path h="97933" w="510023">
                  <a:moveTo>
                    <a:pt x="48967" y="0"/>
                  </a:moveTo>
                  <a:lnTo>
                    <a:pt x="461056" y="0"/>
                  </a:lnTo>
                  <a:cubicBezTo>
                    <a:pt x="474043" y="0"/>
                    <a:pt x="486498" y="5159"/>
                    <a:pt x="495681" y="14342"/>
                  </a:cubicBezTo>
                  <a:cubicBezTo>
                    <a:pt x="504864" y="23525"/>
                    <a:pt x="510023" y="35980"/>
                    <a:pt x="510023" y="48967"/>
                  </a:cubicBezTo>
                  <a:lnTo>
                    <a:pt x="510023" y="48967"/>
                  </a:lnTo>
                  <a:cubicBezTo>
                    <a:pt x="510023" y="76010"/>
                    <a:pt x="488100" y="97933"/>
                    <a:pt x="461056" y="97933"/>
                  </a:cubicBezTo>
                  <a:lnTo>
                    <a:pt x="48967" y="97933"/>
                  </a:lnTo>
                  <a:cubicBezTo>
                    <a:pt x="21923" y="97933"/>
                    <a:pt x="0" y="76010"/>
                    <a:pt x="0" y="48967"/>
                  </a:cubicBezTo>
                  <a:lnTo>
                    <a:pt x="0" y="48967"/>
                  </a:lnTo>
                  <a:cubicBezTo>
                    <a:pt x="0" y="21923"/>
                    <a:pt x="21923" y="0"/>
                    <a:pt x="48967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10023" cy="11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  <a:r>
                <a:rPr lang="en-US" b="true" sz="12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Ethical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040090" y="6948558"/>
            <a:ext cx="321661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Responsible use of student information is prioritised. Stakeholder engagement is evidence-based and transparent. Reward policy governance ensures fair and equitable treatment of all users.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302196" y="3738574"/>
            <a:ext cx="738176" cy="738176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914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302196" y="6381750"/>
            <a:ext cx="738176" cy="738176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5459517" y="3949957"/>
            <a:ext cx="325157" cy="319882"/>
          </a:xfrm>
          <a:custGeom>
            <a:avLst/>
            <a:gdLst/>
            <a:ahLst/>
            <a:cxnLst/>
            <a:rect r="r" b="b" t="t" l="l"/>
            <a:pathLst>
              <a:path h="319882" w="325157">
                <a:moveTo>
                  <a:pt x="0" y="0"/>
                </a:moveTo>
                <a:lnTo>
                  <a:pt x="325158" y="0"/>
                </a:lnTo>
                <a:lnTo>
                  <a:pt x="325158" y="319882"/>
                </a:lnTo>
                <a:lnTo>
                  <a:pt x="0" y="31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1002535" y="3964770"/>
            <a:ext cx="287730" cy="284493"/>
          </a:xfrm>
          <a:custGeom>
            <a:avLst/>
            <a:gdLst/>
            <a:ahLst/>
            <a:cxnLst/>
            <a:rect r="r" b="b" t="t" l="l"/>
            <a:pathLst>
              <a:path h="284493" w="287730">
                <a:moveTo>
                  <a:pt x="0" y="0"/>
                </a:moveTo>
                <a:lnTo>
                  <a:pt x="287730" y="0"/>
                </a:lnTo>
                <a:lnTo>
                  <a:pt x="287730" y="284493"/>
                </a:lnTo>
                <a:lnTo>
                  <a:pt x="0" y="28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6502613" y="3966322"/>
            <a:ext cx="333187" cy="309447"/>
          </a:xfrm>
          <a:custGeom>
            <a:avLst/>
            <a:gdLst/>
            <a:ahLst/>
            <a:cxnLst/>
            <a:rect r="r" b="b" t="t" l="l"/>
            <a:pathLst>
              <a:path h="309447" w="333187">
                <a:moveTo>
                  <a:pt x="0" y="0"/>
                </a:moveTo>
                <a:lnTo>
                  <a:pt x="333187" y="0"/>
                </a:lnTo>
                <a:lnTo>
                  <a:pt x="333187" y="309447"/>
                </a:lnTo>
                <a:lnTo>
                  <a:pt x="0" y="309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5465083" y="6585890"/>
            <a:ext cx="314325" cy="315582"/>
          </a:xfrm>
          <a:custGeom>
            <a:avLst/>
            <a:gdLst/>
            <a:ahLst/>
            <a:cxnLst/>
            <a:rect r="r" b="b" t="t" l="l"/>
            <a:pathLst>
              <a:path h="315582" w="314325">
                <a:moveTo>
                  <a:pt x="0" y="0"/>
                </a:moveTo>
                <a:lnTo>
                  <a:pt x="314325" y="0"/>
                </a:lnTo>
                <a:lnTo>
                  <a:pt x="314325" y="315583"/>
                </a:lnTo>
                <a:lnTo>
                  <a:pt x="0" y="3155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6442014" y="6599067"/>
            <a:ext cx="433768" cy="313480"/>
          </a:xfrm>
          <a:custGeom>
            <a:avLst/>
            <a:gdLst/>
            <a:ahLst/>
            <a:cxnLst/>
            <a:rect r="r" b="b" t="t" l="l"/>
            <a:pathLst>
              <a:path h="313480" w="433768">
                <a:moveTo>
                  <a:pt x="0" y="0"/>
                </a:moveTo>
                <a:lnTo>
                  <a:pt x="433769" y="0"/>
                </a:lnTo>
                <a:lnTo>
                  <a:pt x="433769" y="313479"/>
                </a:lnTo>
                <a:lnTo>
                  <a:pt x="0" y="313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0993875" y="6568234"/>
            <a:ext cx="304963" cy="357518"/>
          </a:xfrm>
          <a:custGeom>
            <a:avLst/>
            <a:gdLst/>
            <a:ahLst/>
            <a:cxnLst/>
            <a:rect r="r" b="b" t="t" l="l"/>
            <a:pathLst>
              <a:path h="357518" w="304963">
                <a:moveTo>
                  <a:pt x="0" y="0"/>
                </a:moveTo>
                <a:lnTo>
                  <a:pt x="304964" y="0"/>
                </a:lnTo>
                <a:lnTo>
                  <a:pt x="304964" y="357518"/>
                </a:lnTo>
                <a:lnTo>
                  <a:pt x="0" y="3575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3040090" y="4027846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Economic Feasibility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98486" y="390402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Technical Feasibility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998486" y="654720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Schedule Feasibility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525115" y="4027846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Operational Feasibility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525115" y="654720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Legal Feasibility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040090" y="654720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Ethical Feasibility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Is Campus Coupon Feasible?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Professional feasibility analysis across six critical dimensions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9969" y="4191000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4"/>
                </a:lnTo>
                <a:lnTo>
                  <a:pt x="0" y="3073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70294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80618" y="4191000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4"/>
                </a:lnTo>
                <a:lnTo>
                  <a:pt x="0" y="3073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0943" y="3140769"/>
            <a:ext cx="3144557" cy="3073804"/>
          </a:xfrm>
          <a:custGeom>
            <a:avLst/>
            <a:gdLst/>
            <a:ahLst/>
            <a:cxnLst/>
            <a:rect r="r" b="b" t="t" l="l"/>
            <a:pathLst>
              <a:path h="3073804" w="3144557">
                <a:moveTo>
                  <a:pt x="0" y="0"/>
                </a:moveTo>
                <a:lnTo>
                  <a:pt x="3144557" y="0"/>
                </a:lnTo>
                <a:lnTo>
                  <a:pt x="3144557" y="3073805"/>
                </a:lnTo>
                <a:lnTo>
                  <a:pt x="0" y="3073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>
            <a:off x="2524036" y="6444347"/>
            <a:ext cx="3308212" cy="1445458"/>
          </a:xfrm>
          <a:custGeom>
            <a:avLst/>
            <a:gdLst/>
            <a:ahLst/>
            <a:cxnLst/>
            <a:rect r="r" b="b" t="t" l="l"/>
            <a:pathLst>
              <a:path h="1445458" w="3308212">
                <a:moveTo>
                  <a:pt x="3308212" y="1014100"/>
                </a:moveTo>
                <a:quadBezTo>
                  <a:pt x="1124394" y="2235084"/>
                  <a:pt x="0" y="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9141219" y="6408217"/>
            <a:ext cx="3283688" cy="1465952"/>
          </a:xfrm>
          <a:custGeom>
            <a:avLst/>
            <a:gdLst/>
            <a:ahLst/>
            <a:cxnLst/>
            <a:rect r="r" b="b" t="t" l="l"/>
            <a:pathLst>
              <a:path h="1465952" w="3283688">
                <a:moveTo>
                  <a:pt x="3283688" y="1050230"/>
                </a:moveTo>
                <a:quadBezTo>
                  <a:pt x="1091253" y="2246610"/>
                  <a:pt x="0" y="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5886897" y="6408217"/>
            <a:ext cx="3254322" cy="1465296"/>
          </a:xfrm>
          <a:custGeom>
            <a:avLst/>
            <a:gdLst/>
            <a:ahLst/>
            <a:cxnLst/>
            <a:rect r="r" b="b" t="t" l="l"/>
            <a:pathLst>
              <a:path h="1465296" w="3254322">
                <a:moveTo>
                  <a:pt x="3254322" y="0"/>
                </a:moveTo>
                <a:quadBezTo>
                  <a:pt x="2182253" y="2245164"/>
                  <a:pt x="0" y="1050230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12452897" y="6424463"/>
            <a:ext cx="3311067" cy="1457072"/>
          </a:xfrm>
          <a:custGeom>
            <a:avLst/>
            <a:gdLst/>
            <a:ahLst/>
            <a:cxnLst/>
            <a:rect r="r" b="b" t="t" l="l"/>
            <a:pathLst>
              <a:path h="1457072" w="3311067">
                <a:moveTo>
                  <a:pt x="3311067" y="0"/>
                </a:moveTo>
                <a:quadBezTo>
                  <a:pt x="2194292" y="2242227"/>
                  <a:pt x="0" y="1033984"/>
                </a:quadBezTo>
              </a:path>
            </a:pathLst>
          </a:custGeom>
          <a:ln cap="flat" w="38100">
            <a:solidFill>
              <a:srgbClr val="F4F6F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330393" y="6020931"/>
            <a:ext cx="387286" cy="3872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38605" y="7071162"/>
            <a:ext cx="387286" cy="38728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59254" y="7071162"/>
            <a:ext cx="387286" cy="3872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47576" y="6020931"/>
            <a:ext cx="387286" cy="3872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69579" y="6020931"/>
            <a:ext cx="387286" cy="3872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1425" lIns="51425" bIns="51425" rIns="51425"/>
            <a:lstStyle/>
            <a:p>
              <a:pPr algn="ctr" marL="0" indent="0" lvl="0">
                <a:lnSpc>
                  <a:spcPts val="19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289731" y="3552440"/>
            <a:ext cx="493648" cy="581391"/>
          </a:xfrm>
          <a:custGeom>
            <a:avLst/>
            <a:gdLst/>
            <a:ahLst/>
            <a:cxnLst/>
            <a:rect r="r" b="b" t="t" l="l"/>
            <a:pathLst>
              <a:path h="581391" w="493648">
                <a:moveTo>
                  <a:pt x="0" y="0"/>
                </a:moveTo>
                <a:lnTo>
                  <a:pt x="493649" y="0"/>
                </a:lnTo>
                <a:lnTo>
                  <a:pt x="493649" y="581391"/>
                </a:lnTo>
                <a:lnTo>
                  <a:pt x="0" y="581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602442" y="4559237"/>
            <a:ext cx="456308" cy="596388"/>
          </a:xfrm>
          <a:custGeom>
            <a:avLst/>
            <a:gdLst/>
            <a:ahLst/>
            <a:cxnLst/>
            <a:rect r="r" b="b" t="t" l="l"/>
            <a:pathLst>
              <a:path h="596388" w="456308">
                <a:moveTo>
                  <a:pt x="0" y="0"/>
                </a:moveTo>
                <a:lnTo>
                  <a:pt x="456308" y="0"/>
                </a:lnTo>
                <a:lnTo>
                  <a:pt x="456308" y="596388"/>
                </a:lnTo>
                <a:lnTo>
                  <a:pt x="0" y="5963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02869" y="3565626"/>
            <a:ext cx="503908" cy="531748"/>
          </a:xfrm>
          <a:custGeom>
            <a:avLst/>
            <a:gdLst/>
            <a:ahLst/>
            <a:cxnLst/>
            <a:rect r="r" b="b" t="t" l="l"/>
            <a:pathLst>
              <a:path h="531748" w="503908">
                <a:moveTo>
                  <a:pt x="0" y="0"/>
                </a:moveTo>
                <a:lnTo>
                  <a:pt x="503908" y="0"/>
                </a:lnTo>
                <a:lnTo>
                  <a:pt x="503908" y="531748"/>
                </a:lnTo>
                <a:lnTo>
                  <a:pt x="0" y="5317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39268" y="4647855"/>
            <a:ext cx="501856" cy="495583"/>
          </a:xfrm>
          <a:custGeom>
            <a:avLst/>
            <a:gdLst/>
            <a:ahLst/>
            <a:cxnLst/>
            <a:rect r="r" b="b" t="t" l="l"/>
            <a:pathLst>
              <a:path h="495583" w="501856">
                <a:moveTo>
                  <a:pt x="0" y="0"/>
                </a:moveTo>
                <a:lnTo>
                  <a:pt x="501855" y="0"/>
                </a:lnTo>
                <a:lnTo>
                  <a:pt x="501855" y="495582"/>
                </a:lnTo>
                <a:lnTo>
                  <a:pt x="0" y="4955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501534" y="3531501"/>
            <a:ext cx="523875" cy="568657"/>
          </a:xfrm>
          <a:custGeom>
            <a:avLst/>
            <a:gdLst/>
            <a:ahLst/>
            <a:cxnLst/>
            <a:rect r="r" b="b" t="t" l="l"/>
            <a:pathLst>
              <a:path h="568657" w="523875">
                <a:moveTo>
                  <a:pt x="0" y="0"/>
                </a:moveTo>
                <a:lnTo>
                  <a:pt x="523875" y="0"/>
                </a:lnTo>
                <a:lnTo>
                  <a:pt x="523875" y="568657"/>
                </a:lnTo>
                <a:lnTo>
                  <a:pt x="0" y="568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 Risk Analysis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09031" y="1866052"/>
            <a:ext cx="9069938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Documented risks with likelihood, impact, mitigation, and ownership — Top 3 risks highlighted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4392" y="4687197"/>
            <a:ext cx="2420773" cy="38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Data Security &amp; Privacy ⚠ HIGH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32186" y="468719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Unauthorised Access ⚠ HIGH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23289" y="573742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Connectivity Failure ⚠ HIGH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52835" y="468719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Technology Challenges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43938" y="5737427"/>
            <a:ext cx="2420773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 Availability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9606" y="5001512"/>
            <a:ext cx="2190345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Likelihood: High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Impact: Critical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Mitigation: POPIA compliance, encrypted data, role-based access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Owner: DB Developer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47400" y="5001512"/>
            <a:ext cx="2190345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Likelihood: Medium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Impact: Critical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Mitigation: Role-based auth, Supabase access control, activity monitoring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Owner: API Developer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38503" y="6051742"/>
            <a:ext cx="2190345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Likelihood: Medium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Impact: High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Mitigation: Offline fallback design, stable network requirement documented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Owner: Flutter Developer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68049" y="5001512"/>
            <a:ext cx="2190345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Likelihood: Medium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Impact: Medium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Mitigation: Team upskilling, peer review, phased development approach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Owner: All Developers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59152" y="6051742"/>
            <a:ext cx="2190345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Likelihood: Medium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Impact: High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Mitigation: Scheduled meetings, documented sign-off, early engagement</a:t>
            </a:r>
          </a:p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Owner: Project Lead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8258" y="3167534"/>
            <a:ext cx="2418559" cy="2768199"/>
            <a:chOff x="0" y="0"/>
            <a:chExt cx="636987" cy="7290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78327" y="3167534"/>
            <a:ext cx="2418559" cy="2768199"/>
            <a:chOff x="0" y="0"/>
            <a:chExt cx="636987" cy="729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34720" y="3167534"/>
            <a:ext cx="2418559" cy="2768199"/>
            <a:chOff x="0" y="0"/>
            <a:chExt cx="636987" cy="7290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02125" y="3167534"/>
            <a:ext cx="2418559" cy="2768199"/>
            <a:chOff x="0" y="0"/>
            <a:chExt cx="636987" cy="7290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66321" y="3167534"/>
            <a:ext cx="2418559" cy="2768199"/>
            <a:chOff x="0" y="0"/>
            <a:chExt cx="636987" cy="7290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3397538" y="5935733"/>
            <a:ext cx="0" cy="1847102"/>
          </a:xfrm>
          <a:prstGeom prst="line">
            <a:avLst/>
          </a:prstGeom>
          <a:ln cap="flat" w="38100">
            <a:solidFill>
              <a:srgbClr val="BD2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6287607" y="5935733"/>
            <a:ext cx="0" cy="1847102"/>
          </a:xfrm>
          <a:prstGeom prst="line">
            <a:avLst/>
          </a:prstGeom>
          <a:ln cap="flat" w="38100">
            <a:solidFill>
              <a:srgbClr val="FD86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9144000" y="5935733"/>
            <a:ext cx="0" cy="1847102"/>
          </a:xfrm>
          <a:prstGeom prst="line">
            <a:avLst/>
          </a:prstGeom>
          <a:ln cap="flat" w="38100">
            <a:solidFill>
              <a:srgbClr val="AFD2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011405" y="5935733"/>
            <a:ext cx="0" cy="1847102"/>
          </a:xfrm>
          <a:prstGeom prst="line">
            <a:avLst/>
          </a:prstGeom>
          <a:ln cap="flat" w="38100">
            <a:solidFill>
              <a:srgbClr val="2BA1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4875601" y="5935733"/>
            <a:ext cx="0" cy="1847102"/>
          </a:xfrm>
          <a:prstGeom prst="line">
            <a:avLst/>
          </a:prstGeom>
          <a:ln cap="flat" w="38100">
            <a:solidFill>
              <a:srgbClr val="145F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952071" y="6650107"/>
            <a:ext cx="14383858" cy="1132729"/>
          </a:xfrm>
          <a:custGeom>
            <a:avLst/>
            <a:gdLst/>
            <a:ahLst/>
            <a:cxnLst/>
            <a:rect r="r" b="b" t="t" l="l"/>
            <a:pathLst>
              <a:path h="1132729" w="14383858">
                <a:moveTo>
                  <a:pt x="0" y="0"/>
                </a:moveTo>
                <a:lnTo>
                  <a:pt x="14383858" y="0"/>
                </a:lnTo>
                <a:lnTo>
                  <a:pt x="14383858" y="1132728"/>
                </a:lnTo>
                <a:lnTo>
                  <a:pt x="0" y="1132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188258" y="3027349"/>
            <a:ext cx="2418559" cy="2768199"/>
            <a:chOff x="0" y="0"/>
            <a:chExt cx="636987" cy="7290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8327" y="3027349"/>
            <a:ext cx="2418559" cy="2768199"/>
            <a:chOff x="0" y="0"/>
            <a:chExt cx="636987" cy="7290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934720" y="3027349"/>
            <a:ext cx="2418559" cy="2768199"/>
            <a:chOff x="0" y="0"/>
            <a:chExt cx="636987" cy="7290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02125" y="3027349"/>
            <a:ext cx="2418559" cy="2768199"/>
            <a:chOff x="0" y="0"/>
            <a:chExt cx="636987" cy="7290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66321" y="3027349"/>
            <a:ext cx="2418559" cy="2768199"/>
            <a:chOff x="0" y="0"/>
            <a:chExt cx="636987" cy="72907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6987" cy="729073"/>
            </a:xfrm>
            <a:custGeom>
              <a:avLst/>
              <a:gdLst/>
              <a:ahLst/>
              <a:cxnLst/>
              <a:rect r="r" b="b" t="t" l="l"/>
              <a:pathLst>
                <a:path h="729073" w="636987">
                  <a:moveTo>
                    <a:pt x="89629" y="0"/>
                  </a:moveTo>
                  <a:lnTo>
                    <a:pt x="547358" y="0"/>
                  </a:lnTo>
                  <a:cubicBezTo>
                    <a:pt x="571129" y="0"/>
                    <a:pt x="593926" y="9443"/>
                    <a:pt x="610735" y="26252"/>
                  </a:cubicBezTo>
                  <a:cubicBezTo>
                    <a:pt x="627544" y="43061"/>
                    <a:pt x="636987" y="65858"/>
                    <a:pt x="636987" y="89629"/>
                  </a:cubicBezTo>
                  <a:lnTo>
                    <a:pt x="636987" y="639444"/>
                  </a:lnTo>
                  <a:cubicBezTo>
                    <a:pt x="636987" y="688945"/>
                    <a:pt x="596858" y="729073"/>
                    <a:pt x="547358" y="729073"/>
                  </a:cubicBezTo>
                  <a:lnTo>
                    <a:pt x="89629" y="729073"/>
                  </a:lnTo>
                  <a:cubicBezTo>
                    <a:pt x="65858" y="729073"/>
                    <a:pt x="43061" y="719630"/>
                    <a:pt x="26252" y="702821"/>
                  </a:cubicBezTo>
                  <a:cubicBezTo>
                    <a:pt x="9443" y="686013"/>
                    <a:pt x="0" y="663215"/>
                    <a:pt x="0" y="639444"/>
                  </a:cubicBezTo>
                  <a:lnTo>
                    <a:pt x="0" y="89629"/>
                  </a:lnTo>
                  <a:cubicBezTo>
                    <a:pt x="0" y="65858"/>
                    <a:pt x="9443" y="43061"/>
                    <a:pt x="26252" y="26252"/>
                  </a:cubicBezTo>
                  <a:cubicBezTo>
                    <a:pt x="43061" y="9443"/>
                    <a:pt x="65858" y="0"/>
                    <a:pt x="89629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36987" cy="7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2946" y="6449699"/>
            <a:ext cx="1234867" cy="407250"/>
            <a:chOff x="0" y="0"/>
            <a:chExt cx="325232" cy="1072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5232" cy="107259"/>
            </a:xfrm>
            <a:custGeom>
              <a:avLst/>
              <a:gdLst/>
              <a:ahLst/>
              <a:cxnLst/>
              <a:rect r="r" b="b" t="t" l="l"/>
              <a:pathLst>
                <a:path h="107259" w="325232">
                  <a:moveTo>
                    <a:pt x="53630" y="0"/>
                  </a:moveTo>
                  <a:lnTo>
                    <a:pt x="271603" y="0"/>
                  </a:lnTo>
                  <a:cubicBezTo>
                    <a:pt x="301222" y="0"/>
                    <a:pt x="325232" y="24011"/>
                    <a:pt x="325232" y="53630"/>
                  </a:cubicBezTo>
                  <a:lnTo>
                    <a:pt x="325232" y="53630"/>
                  </a:lnTo>
                  <a:cubicBezTo>
                    <a:pt x="325232" y="83249"/>
                    <a:pt x="301222" y="107259"/>
                    <a:pt x="271603" y="107259"/>
                  </a:cubicBezTo>
                  <a:lnTo>
                    <a:pt x="53630" y="107259"/>
                  </a:lnTo>
                  <a:cubicBezTo>
                    <a:pt x="24011" y="107259"/>
                    <a:pt x="0" y="83249"/>
                    <a:pt x="0" y="53630"/>
                  </a:cubicBezTo>
                  <a:lnTo>
                    <a:pt x="0" y="53630"/>
                  </a:lnTo>
                  <a:cubicBezTo>
                    <a:pt x="0" y="24011"/>
                    <a:pt x="24011" y="0"/>
                    <a:pt x="53630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25232" cy="145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</a:pPr>
              <a:r>
                <a:rPr lang="en-US" b="true" sz="1598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Start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100188" y="6449699"/>
            <a:ext cx="1234867" cy="407250"/>
            <a:chOff x="0" y="0"/>
            <a:chExt cx="325232" cy="1072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5232" cy="107259"/>
            </a:xfrm>
            <a:custGeom>
              <a:avLst/>
              <a:gdLst/>
              <a:ahLst/>
              <a:cxnLst/>
              <a:rect r="r" b="b" t="t" l="l"/>
              <a:pathLst>
                <a:path h="107259" w="325232">
                  <a:moveTo>
                    <a:pt x="53630" y="0"/>
                  </a:moveTo>
                  <a:lnTo>
                    <a:pt x="271603" y="0"/>
                  </a:lnTo>
                  <a:cubicBezTo>
                    <a:pt x="301222" y="0"/>
                    <a:pt x="325232" y="24011"/>
                    <a:pt x="325232" y="53630"/>
                  </a:cubicBezTo>
                  <a:lnTo>
                    <a:pt x="325232" y="53630"/>
                  </a:lnTo>
                  <a:cubicBezTo>
                    <a:pt x="325232" y="83249"/>
                    <a:pt x="301222" y="107259"/>
                    <a:pt x="271603" y="107259"/>
                  </a:cubicBezTo>
                  <a:lnTo>
                    <a:pt x="53630" y="107259"/>
                  </a:lnTo>
                  <a:cubicBezTo>
                    <a:pt x="24011" y="107259"/>
                    <a:pt x="0" y="83249"/>
                    <a:pt x="0" y="53630"/>
                  </a:cubicBezTo>
                  <a:lnTo>
                    <a:pt x="0" y="53630"/>
                  </a:lnTo>
                  <a:cubicBezTo>
                    <a:pt x="0" y="24011"/>
                    <a:pt x="24011" y="0"/>
                    <a:pt x="53630" y="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25232" cy="145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8"/>
                </a:lnSpc>
              </a:pPr>
              <a:r>
                <a:rPr lang="en-US" b="true" sz="1598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End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3198679" y="6991036"/>
            <a:ext cx="406128" cy="455960"/>
          </a:xfrm>
          <a:custGeom>
            <a:avLst/>
            <a:gdLst/>
            <a:ahLst/>
            <a:cxnLst/>
            <a:rect r="r" b="b" t="t" l="l"/>
            <a:pathLst>
              <a:path h="455960" w="406128">
                <a:moveTo>
                  <a:pt x="0" y="0"/>
                </a:moveTo>
                <a:lnTo>
                  <a:pt x="406128" y="0"/>
                </a:lnTo>
                <a:lnTo>
                  <a:pt x="406128" y="455960"/>
                </a:lnTo>
                <a:lnTo>
                  <a:pt x="0" y="455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8906858" y="6958278"/>
            <a:ext cx="476250" cy="494787"/>
          </a:xfrm>
          <a:custGeom>
            <a:avLst/>
            <a:gdLst/>
            <a:ahLst/>
            <a:cxnLst/>
            <a:rect r="r" b="b" t="t" l="l"/>
            <a:pathLst>
              <a:path h="494787" w="476250">
                <a:moveTo>
                  <a:pt x="0" y="0"/>
                </a:moveTo>
                <a:lnTo>
                  <a:pt x="476250" y="0"/>
                </a:lnTo>
                <a:lnTo>
                  <a:pt x="476250" y="494787"/>
                </a:lnTo>
                <a:lnTo>
                  <a:pt x="0" y="494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018038" y="6920560"/>
            <a:ext cx="597007" cy="569630"/>
          </a:xfrm>
          <a:custGeom>
            <a:avLst/>
            <a:gdLst/>
            <a:ahLst/>
            <a:cxnLst/>
            <a:rect r="r" b="b" t="t" l="l"/>
            <a:pathLst>
              <a:path h="569630" w="597007">
                <a:moveTo>
                  <a:pt x="0" y="0"/>
                </a:moveTo>
                <a:lnTo>
                  <a:pt x="597007" y="0"/>
                </a:lnTo>
                <a:lnTo>
                  <a:pt x="597007" y="569629"/>
                </a:lnTo>
                <a:lnTo>
                  <a:pt x="0" y="569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830148" y="6981273"/>
            <a:ext cx="388535" cy="391852"/>
          </a:xfrm>
          <a:custGeom>
            <a:avLst/>
            <a:gdLst/>
            <a:ahLst/>
            <a:cxnLst/>
            <a:rect r="r" b="b" t="t" l="l"/>
            <a:pathLst>
              <a:path h="391852" w="388535">
                <a:moveTo>
                  <a:pt x="0" y="0"/>
                </a:moveTo>
                <a:lnTo>
                  <a:pt x="388535" y="0"/>
                </a:lnTo>
                <a:lnTo>
                  <a:pt x="388535" y="391852"/>
                </a:lnTo>
                <a:lnTo>
                  <a:pt x="0" y="391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629402" y="6978358"/>
            <a:ext cx="492184" cy="450348"/>
          </a:xfrm>
          <a:custGeom>
            <a:avLst/>
            <a:gdLst/>
            <a:ahLst/>
            <a:cxnLst/>
            <a:rect r="r" b="b" t="t" l="l"/>
            <a:pathLst>
              <a:path h="450348" w="492184">
                <a:moveTo>
                  <a:pt x="0" y="0"/>
                </a:moveTo>
                <a:lnTo>
                  <a:pt x="492184" y="0"/>
                </a:lnTo>
                <a:lnTo>
                  <a:pt x="492184" y="450349"/>
                </a:lnTo>
                <a:lnTo>
                  <a:pt x="0" y="4503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Microsoft Project Plan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Campus Coupon – ITC327W Phase Timeline &amp; Milestones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86045" y="3754408"/>
            <a:ext cx="2420773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59745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Aug – Sep 2026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29786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Oct – Nov 2026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998981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Nov – Jan 2027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871187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Feb – Mar 2027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38224" y="8080046"/>
            <a:ext cx="2275586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8"/>
              </a:lnSpc>
            </a:pPr>
            <a:r>
              <a:rPr lang="en-US" b="true" sz="17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Apr – May 2027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076114" y="3754408"/>
            <a:ext cx="2420773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27234" y="3754408"/>
            <a:ext cx="2420773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794638" y="3754408"/>
            <a:ext cx="2420773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658834" y="3754408"/>
            <a:ext cx="2420773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300152" y="4155761"/>
            <a:ext cx="2190345" cy="9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Planning, stakeholder engagement, requirements gathering &amp; SRS documentation.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90221" y="415576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System architecture, UML diagrams, ERD &amp; interface design.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046614" y="415576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Flutter, ASP.NET &amp; Supabase development, integration &amp; unit testing.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914019" y="415576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System testing, UAT, stakeholder review &amp; bug resolution.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778215" y="4155761"/>
            <a:ext cx="2190345" cy="7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8"/>
              </a:lnSpc>
            </a:pPr>
            <a:r>
              <a:rPr lang="en-US" sz="13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Final demo, presentation prep, defence &amp; project handover.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 Management &amp; Collaboration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Tools, controls, and collaboration infrastructure supporting Campus Coupon Phase 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06600" y="3383029"/>
            <a:ext cx="3166081" cy="2651692"/>
          </a:xfrm>
          <a:custGeom>
            <a:avLst/>
            <a:gdLst/>
            <a:ahLst/>
            <a:cxnLst/>
            <a:rect r="r" b="b" t="t" l="l"/>
            <a:pathLst>
              <a:path h="2651692" w="3166081">
                <a:moveTo>
                  <a:pt x="0" y="0"/>
                </a:moveTo>
                <a:lnTo>
                  <a:pt x="3166080" y="0"/>
                </a:lnTo>
                <a:lnTo>
                  <a:pt x="3166080" y="2651692"/>
                </a:lnTo>
                <a:lnTo>
                  <a:pt x="0" y="265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12514" y="3489480"/>
            <a:ext cx="408663" cy="375724"/>
          </a:xfrm>
          <a:custGeom>
            <a:avLst/>
            <a:gdLst/>
            <a:ahLst/>
            <a:cxnLst/>
            <a:rect r="r" b="b" t="t" l="l"/>
            <a:pathLst>
              <a:path h="375724" w="408663">
                <a:moveTo>
                  <a:pt x="0" y="0"/>
                </a:moveTo>
                <a:lnTo>
                  <a:pt x="408663" y="0"/>
                </a:lnTo>
                <a:lnTo>
                  <a:pt x="408663" y="375725"/>
                </a:lnTo>
                <a:lnTo>
                  <a:pt x="0" y="375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3105" y="3916184"/>
            <a:ext cx="2352322" cy="22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Microsoft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3105" y="4308012"/>
            <a:ext cx="2095727" cy="118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Planning, task dependencies, milestones, and individual responsibilities across all phases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88665" y="4843959"/>
            <a:ext cx="3132557" cy="2799896"/>
          </a:xfrm>
          <a:custGeom>
            <a:avLst/>
            <a:gdLst/>
            <a:ahLst/>
            <a:cxnLst/>
            <a:rect r="r" b="b" t="t" l="l"/>
            <a:pathLst>
              <a:path h="2799896" w="3132557">
                <a:moveTo>
                  <a:pt x="0" y="0"/>
                </a:moveTo>
                <a:lnTo>
                  <a:pt x="3132557" y="0"/>
                </a:lnTo>
                <a:lnTo>
                  <a:pt x="3132557" y="2799896"/>
                </a:lnTo>
                <a:lnTo>
                  <a:pt x="0" y="2799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44448" y="5438992"/>
            <a:ext cx="2352322" cy="22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GitHub Repository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4448" y="5830820"/>
            <a:ext cx="2095727" cy="9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Version control, documentation storage, repository activity, and collaborative evidence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08597" y="3318464"/>
            <a:ext cx="3143595" cy="2817447"/>
          </a:xfrm>
          <a:custGeom>
            <a:avLst/>
            <a:gdLst/>
            <a:ahLst/>
            <a:cxnLst/>
            <a:rect r="r" b="b" t="t" l="l"/>
            <a:pathLst>
              <a:path h="2817447" w="3143595">
                <a:moveTo>
                  <a:pt x="0" y="0"/>
                </a:moveTo>
                <a:lnTo>
                  <a:pt x="3143595" y="0"/>
                </a:lnTo>
                <a:lnTo>
                  <a:pt x="3143595" y="2817447"/>
                </a:lnTo>
                <a:lnTo>
                  <a:pt x="0" y="28174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6167" y="3916184"/>
            <a:ext cx="2352322" cy="22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Progress Tracker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6167" y="4308012"/>
            <a:ext cx="2095727" cy="9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Task progress, individual contributions, stakeholder engagement, and phase reflections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788017" y="4840217"/>
            <a:ext cx="3157045" cy="2924212"/>
          </a:xfrm>
          <a:custGeom>
            <a:avLst/>
            <a:gdLst/>
            <a:ahLst/>
            <a:cxnLst/>
            <a:rect r="r" b="b" t="t" l="l"/>
            <a:pathLst>
              <a:path h="2924212" w="3157045">
                <a:moveTo>
                  <a:pt x="0" y="0"/>
                </a:moveTo>
                <a:lnTo>
                  <a:pt x="3157045" y="0"/>
                </a:lnTo>
                <a:lnTo>
                  <a:pt x="3157045" y="2924212"/>
                </a:lnTo>
                <a:lnTo>
                  <a:pt x="0" y="2924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57509" y="5438992"/>
            <a:ext cx="2352322" cy="22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Confidentiality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57509" y="5830820"/>
            <a:ext cx="2095727" cy="9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Passwords, API keys, and stakeholder data handled under confidentiality and CUT policy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16668" y="4921462"/>
            <a:ext cx="533400" cy="477101"/>
          </a:xfrm>
          <a:custGeom>
            <a:avLst/>
            <a:gdLst/>
            <a:ahLst/>
            <a:cxnLst/>
            <a:rect r="r" b="b" t="t" l="l"/>
            <a:pathLst>
              <a:path h="477101" w="533400">
                <a:moveTo>
                  <a:pt x="0" y="0"/>
                </a:moveTo>
                <a:lnTo>
                  <a:pt x="533400" y="0"/>
                </a:lnTo>
                <a:lnTo>
                  <a:pt x="533400" y="477100"/>
                </a:lnTo>
                <a:lnTo>
                  <a:pt x="0" y="477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64010" y="3347135"/>
            <a:ext cx="536866" cy="490993"/>
          </a:xfrm>
          <a:custGeom>
            <a:avLst/>
            <a:gdLst/>
            <a:ahLst/>
            <a:cxnLst/>
            <a:rect r="r" b="b" t="t" l="l"/>
            <a:pathLst>
              <a:path h="490993" w="536866">
                <a:moveTo>
                  <a:pt x="0" y="0"/>
                </a:moveTo>
                <a:lnTo>
                  <a:pt x="536866" y="0"/>
                </a:lnTo>
                <a:lnTo>
                  <a:pt x="536866" y="490992"/>
                </a:lnTo>
                <a:lnTo>
                  <a:pt x="0" y="490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79741" y="4882316"/>
            <a:ext cx="464203" cy="619678"/>
          </a:xfrm>
          <a:custGeom>
            <a:avLst/>
            <a:gdLst/>
            <a:ahLst/>
            <a:cxnLst/>
            <a:rect r="r" b="b" t="t" l="l"/>
            <a:pathLst>
              <a:path h="619678" w="464203">
                <a:moveTo>
                  <a:pt x="0" y="0"/>
                </a:moveTo>
                <a:lnTo>
                  <a:pt x="464203" y="0"/>
                </a:lnTo>
                <a:lnTo>
                  <a:pt x="464203" y="619678"/>
                </a:lnTo>
                <a:lnTo>
                  <a:pt x="0" y="6196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85569" y="4277866"/>
            <a:ext cx="12916863" cy="3323032"/>
            <a:chOff x="0" y="0"/>
            <a:chExt cx="17222484" cy="4430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87666" cy="4430710"/>
            </a:xfrm>
            <a:custGeom>
              <a:avLst/>
              <a:gdLst/>
              <a:ahLst/>
              <a:cxnLst/>
              <a:rect r="r" b="b" t="t" l="l"/>
              <a:pathLst>
                <a:path h="4430710" w="8687666">
                  <a:moveTo>
                    <a:pt x="0" y="0"/>
                  </a:moveTo>
                  <a:lnTo>
                    <a:pt x="8687666" y="0"/>
                  </a:lnTo>
                  <a:lnTo>
                    <a:pt x="8687666" y="4430710"/>
                  </a:lnTo>
                  <a:lnTo>
                    <a:pt x="0" y="4430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8534818" y="0"/>
              <a:ext cx="8687666" cy="4430710"/>
            </a:xfrm>
            <a:custGeom>
              <a:avLst/>
              <a:gdLst/>
              <a:ahLst/>
              <a:cxnLst/>
              <a:rect r="r" b="b" t="t" l="l"/>
              <a:pathLst>
                <a:path h="4430710" w="8687666">
                  <a:moveTo>
                    <a:pt x="0" y="4430710"/>
                  </a:moveTo>
                  <a:lnTo>
                    <a:pt x="8687666" y="4430710"/>
                  </a:lnTo>
                  <a:lnTo>
                    <a:pt x="8687666" y="0"/>
                  </a:lnTo>
                  <a:lnTo>
                    <a:pt x="0" y="0"/>
                  </a:lnTo>
                  <a:lnTo>
                    <a:pt x="0" y="443071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501324" y="5612117"/>
            <a:ext cx="591508" cy="589284"/>
          </a:xfrm>
          <a:custGeom>
            <a:avLst/>
            <a:gdLst/>
            <a:ahLst/>
            <a:cxnLst/>
            <a:rect r="r" b="b" t="t" l="l"/>
            <a:pathLst>
              <a:path h="589284" w="591508">
                <a:moveTo>
                  <a:pt x="0" y="0"/>
                </a:moveTo>
                <a:lnTo>
                  <a:pt x="591508" y="0"/>
                </a:lnTo>
                <a:lnTo>
                  <a:pt x="591508" y="589283"/>
                </a:lnTo>
                <a:lnTo>
                  <a:pt x="0" y="58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75992" y="5568142"/>
            <a:ext cx="1126427" cy="696976"/>
          </a:xfrm>
          <a:custGeom>
            <a:avLst/>
            <a:gdLst/>
            <a:ahLst/>
            <a:cxnLst/>
            <a:rect r="r" b="b" t="t" l="l"/>
            <a:pathLst>
              <a:path h="696976" w="1126427">
                <a:moveTo>
                  <a:pt x="0" y="0"/>
                </a:moveTo>
                <a:lnTo>
                  <a:pt x="1126426" y="0"/>
                </a:lnTo>
                <a:lnTo>
                  <a:pt x="1126426" y="696977"/>
                </a:lnTo>
                <a:lnTo>
                  <a:pt x="0" y="6969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87768" y="5542380"/>
            <a:ext cx="631647" cy="726394"/>
          </a:xfrm>
          <a:custGeom>
            <a:avLst/>
            <a:gdLst/>
            <a:ahLst/>
            <a:cxnLst/>
            <a:rect r="r" b="b" t="t" l="l"/>
            <a:pathLst>
              <a:path h="726394" w="631647">
                <a:moveTo>
                  <a:pt x="0" y="0"/>
                </a:moveTo>
                <a:lnTo>
                  <a:pt x="631647" y="0"/>
                </a:lnTo>
                <a:lnTo>
                  <a:pt x="631647" y="726394"/>
                </a:lnTo>
                <a:lnTo>
                  <a:pt x="0" y="726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50515" y="5652324"/>
            <a:ext cx="641526" cy="635368"/>
          </a:xfrm>
          <a:custGeom>
            <a:avLst/>
            <a:gdLst/>
            <a:ahLst/>
            <a:cxnLst/>
            <a:rect r="r" b="b" t="t" l="l"/>
            <a:pathLst>
              <a:path h="635368" w="641526">
                <a:moveTo>
                  <a:pt x="0" y="0"/>
                </a:moveTo>
                <a:lnTo>
                  <a:pt x="641527" y="0"/>
                </a:lnTo>
                <a:lnTo>
                  <a:pt x="641527" y="635368"/>
                </a:lnTo>
                <a:lnTo>
                  <a:pt x="0" y="635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5313" y="5584182"/>
            <a:ext cx="726273" cy="646421"/>
          </a:xfrm>
          <a:custGeom>
            <a:avLst/>
            <a:gdLst/>
            <a:ahLst/>
            <a:cxnLst/>
            <a:rect r="r" b="b" t="t" l="l"/>
            <a:pathLst>
              <a:path h="646421" w="726273">
                <a:moveTo>
                  <a:pt x="0" y="0"/>
                </a:moveTo>
                <a:lnTo>
                  <a:pt x="726273" y="0"/>
                </a:lnTo>
                <a:lnTo>
                  <a:pt x="726273" y="646420"/>
                </a:lnTo>
                <a:lnTo>
                  <a:pt x="0" y="6464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35466" y="5647304"/>
            <a:ext cx="714525" cy="573470"/>
          </a:xfrm>
          <a:custGeom>
            <a:avLst/>
            <a:gdLst/>
            <a:ahLst/>
            <a:cxnLst/>
            <a:rect r="r" b="b" t="t" l="l"/>
            <a:pathLst>
              <a:path h="573470" w="714525">
                <a:moveTo>
                  <a:pt x="0" y="0"/>
                </a:moveTo>
                <a:lnTo>
                  <a:pt x="714525" y="0"/>
                </a:lnTo>
                <a:lnTo>
                  <a:pt x="714525" y="573470"/>
                </a:lnTo>
                <a:lnTo>
                  <a:pt x="0" y="5734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What We Have Achieved in Phase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Evidence-based milestones completed during Phase 1 – Planning, Requirements &amp; Feasibility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2223" y="3021864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 Confirmed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27623" y="801999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Scope Established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3197" y="3389534"/>
            <a:ext cx="321661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External stakeholder identified and formally confirmed by Student Development Officer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8597" y="8387669"/>
            <a:ext cx="321661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Project scope, constraints, and assumptions defined and documented in Phase 1 baseline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8086" y="3021864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Kick-Off Completed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49060" y="3389534"/>
            <a:ext cx="321661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kick-off engagement and requirements discussion conducted and documented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98423" y="801999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Tech Stack Confirmed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99397" y="8387669"/>
            <a:ext cx="321661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Flutter, ASP.NET, and Supabase confirmed; GitHub repository and MS Project plan established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03949" y="3021864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SRS Prepared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04923" y="3389534"/>
            <a:ext cx="321661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Initial Software Requirements Specification drafted from stakeholder inputs and meetings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69223" y="801999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Evidence Documented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70198" y="8387669"/>
            <a:ext cx="321661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letter, meeting minutes, agenda, and kick-off evidence compiled and referenced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Challenges, Learning &amp; 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9031" y="1866052"/>
            <a:ext cx="9069938" cy="62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Identifying, analysing, correcting, and improving — a professional project management approach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12999" y="3087772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10" y="0"/>
                </a:lnTo>
                <a:lnTo>
                  <a:pt x="3492410" y="3199920"/>
                </a:lnTo>
                <a:lnTo>
                  <a:pt x="0" y="3199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54507" y="3392035"/>
            <a:ext cx="523875" cy="476726"/>
          </a:xfrm>
          <a:custGeom>
            <a:avLst/>
            <a:gdLst/>
            <a:ahLst/>
            <a:cxnLst/>
            <a:rect r="r" b="b" t="t" l="l"/>
            <a:pathLst>
              <a:path h="476726" w="523875">
                <a:moveTo>
                  <a:pt x="0" y="0"/>
                </a:moveTo>
                <a:lnTo>
                  <a:pt x="523875" y="0"/>
                </a:lnTo>
                <a:lnTo>
                  <a:pt x="523875" y="476726"/>
                </a:lnTo>
                <a:lnTo>
                  <a:pt x="0" y="476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3105" y="3916184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Challenge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3105" y="4317537"/>
            <a:ext cx="2095727" cy="122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Stakeholder availability constraints delayed initial requirements gathering and kick-off meeting scheduling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374342" y="4610579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10" y="0"/>
                </a:lnTo>
                <a:lnTo>
                  <a:pt x="3492410" y="3199921"/>
                </a:lnTo>
                <a:lnTo>
                  <a:pt x="0" y="31999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44448" y="5438992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Effect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4448" y="5840345"/>
            <a:ext cx="2095727" cy="9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Delayed finalisation of core requirements and postponed SRS drafting during early Phase 1 weeks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226061" y="3087772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09" y="0"/>
                </a:lnTo>
                <a:lnTo>
                  <a:pt x="3492409" y="3199920"/>
                </a:lnTo>
                <a:lnTo>
                  <a:pt x="0" y="3199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6167" y="3916184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Corrective 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6167" y="4317537"/>
            <a:ext cx="2095727" cy="122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Scheduled structured meetings with confirmed agendas; documented all interactions with minutes and evidence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87403" y="4610579"/>
            <a:ext cx="3492410" cy="3199921"/>
          </a:xfrm>
          <a:custGeom>
            <a:avLst/>
            <a:gdLst/>
            <a:ahLst/>
            <a:cxnLst/>
            <a:rect r="r" b="b" t="t" l="l"/>
            <a:pathLst>
              <a:path h="3199921" w="3492410">
                <a:moveTo>
                  <a:pt x="0" y="0"/>
                </a:moveTo>
                <a:lnTo>
                  <a:pt x="3492410" y="0"/>
                </a:lnTo>
                <a:lnTo>
                  <a:pt x="3492410" y="3199921"/>
                </a:lnTo>
                <a:lnTo>
                  <a:pt x="0" y="3199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57509" y="5438992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Lesson Learned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57509" y="5840345"/>
            <a:ext cx="2095727" cy="122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Early stakeholder scheduling and formal documentation protocols are essential for Phase 2 design activities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47343" y="4834923"/>
            <a:ext cx="476250" cy="660314"/>
          </a:xfrm>
          <a:custGeom>
            <a:avLst/>
            <a:gdLst/>
            <a:ahLst/>
            <a:cxnLst/>
            <a:rect r="r" b="b" t="t" l="l"/>
            <a:pathLst>
              <a:path h="660314" w="476250">
                <a:moveTo>
                  <a:pt x="0" y="0"/>
                </a:moveTo>
                <a:lnTo>
                  <a:pt x="476250" y="0"/>
                </a:lnTo>
                <a:lnTo>
                  <a:pt x="476250" y="660315"/>
                </a:lnTo>
                <a:lnTo>
                  <a:pt x="0" y="6603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62675" y="3302527"/>
            <a:ext cx="541065" cy="733444"/>
          </a:xfrm>
          <a:custGeom>
            <a:avLst/>
            <a:gdLst/>
            <a:ahLst/>
            <a:cxnLst/>
            <a:rect r="r" b="b" t="t" l="l"/>
            <a:pathLst>
              <a:path h="733444" w="541065">
                <a:moveTo>
                  <a:pt x="0" y="0"/>
                </a:moveTo>
                <a:lnTo>
                  <a:pt x="541066" y="0"/>
                </a:lnTo>
                <a:lnTo>
                  <a:pt x="541066" y="733444"/>
                </a:lnTo>
                <a:lnTo>
                  <a:pt x="0" y="7334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73650" y="4884736"/>
            <a:ext cx="476250" cy="698065"/>
          </a:xfrm>
          <a:custGeom>
            <a:avLst/>
            <a:gdLst/>
            <a:ahLst/>
            <a:cxnLst/>
            <a:rect r="r" b="b" t="t" l="l"/>
            <a:pathLst>
              <a:path h="698065" w="476250">
                <a:moveTo>
                  <a:pt x="0" y="0"/>
                </a:moveTo>
                <a:lnTo>
                  <a:pt x="476250" y="0"/>
                </a:lnTo>
                <a:lnTo>
                  <a:pt x="476250" y="698065"/>
                </a:lnTo>
                <a:lnTo>
                  <a:pt x="0" y="6980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7572375"/>
            <a:ext cx="16383000" cy="0"/>
          </a:xfrm>
          <a:prstGeom prst="line">
            <a:avLst/>
          </a:prstGeom>
          <a:ln cap="rnd" w="190500">
            <a:solidFill>
              <a:srgbClr val="F4F6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09941" y="3732078"/>
            <a:ext cx="2491575" cy="2796762"/>
            <a:chOff x="0" y="0"/>
            <a:chExt cx="381314" cy="428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145F4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152" y="3874409"/>
            <a:ext cx="3033913" cy="2512100"/>
            <a:chOff x="0" y="0"/>
            <a:chExt cx="479869" cy="397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5908" cy="397334"/>
            </a:xfrm>
            <a:custGeom>
              <a:avLst/>
              <a:gdLst/>
              <a:ahLst/>
              <a:cxnLst/>
              <a:rect r="r" b="b" t="t" l="l"/>
              <a:pathLst>
                <a:path h="397334" w="465908">
                  <a:moveTo>
                    <a:pt x="243495" y="0"/>
                  </a:moveTo>
                  <a:lnTo>
                    <a:pt x="33173" y="0"/>
                  </a:lnTo>
                  <a:cubicBezTo>
                    <a:pt x="24375" y="0"/>
                    <a:pt x="15937" y="3495"/>
                    <a:pt x="9716" y="9716"/>
                  </a:cubicBezTo>
                  <a:cubicBezTo>
                    <a:pt x="3495" y="15937"/>
                    <a:pt x="0" y="24375"/>
                    <a:pt x="0" y="33173"/>
                  </a:cubicBezTo>
                  <a:lnTo>
                    <a:pt x="0" y="364161"/>
                  </a:lnTo>
                  <a:cubicBezTo>
                    <a:pt x="0" y="372959"/>
                    <a:pt x="3495" y="381397"/>
                    <a:pt x="9716" y="387618"/>
                  </a:cubicBezTo>
                  <a:cubicBezTo>
                    <a:pt x="15937" y="393839"/>
                    <a:pt x="24375" y="397334"/>
                    <a:pt x="33173" y="397334"/>
                  </a:cubicBezTo>
                  <a:lnTo>
                    <a:pt x="243495" y="397334"/>
                  </a:lnTo>
                  <a:cubicBezTo>
                    <a:pt x="264762" y="397334"/>
                    <a:pt x="285183" y="389010"/>
                    <a:pt x="300389" y="374143"/>
                  </a:cubicBezTo>
                  <a:lnTo>
                    <a:pt x="456149" y="221858"/>
                  </a:lnTo>
                  <a:cubicBezTo>
                    <a:pt x="462390" y="215756"/>
                    <a:pt x="465908" y="207396"/>
                    <a:pt x="465908" y="198667"/>
                  </a:cubicBezTo>
                  <a:cubicBezTo>
                    <a:pt x="465908" y="189939"/>
                    <a:pt x="462390" y="181578"/>
                    <a:pt x="456149" y="175476"/>
                  </a:cubicBezTo>
                  <a:lnTo>
                    <a:pt x="300389" y="23191"/>
                  </a:lnTo>
                  <a:cubicBezTo>
                    <a:pt x="285183" y="8324"/>
                    <a:pt x="264762" y="0"/>
                    <a:pt x="2434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65569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962402" y="3186660"/>
            <a:ext cx="1090837" cy="10908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69607" y="3732078"/>
            <a:ext cx="2491575" cy="2796762"/>
            <a:chOff x="0" y="0"/>
            <a:chExt cx="381314" cy="4280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AFD2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49922" y="3874409"/>
            <a:ext cx="2410809" cy="2512100"/>
            <a:chOff x="0" y="0"/>
            <a:chExt cx="381314" cy="3973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7622068" y="3186660"/>
            <a:ext cx="1090837" cy="109083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29272" y="3732078"/>
            <a:ext cx="2491575" cy="2796762"/>
            <a:chOff x="0" y="0"/>
            <a:chExt cx="381314" cy="428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BD214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809587" y="3874409"/>
            <a:ext cx="2410809" cy="2512100"/>
            <a:chOff x="0" y="0"/>
            <a:chExt cx="381314" cy="3973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4281734" y="3186660"/>
            <a:ext cx="1090837" cy="109083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39774" y="3732078"/>
            <a:ext cx="2491575" cy="2796762"/>
            <a:chOff x="0" y="0"/>
            <a:chExt cx="381314" cy="4280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2BA14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20089" y="3874409"/>
            <a:ext cx="2410809" cy="2512100"/>
            <a:chOff x="0" y="0"/>
            <a:chExt cx="381314" cy="3973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4292235" y="3186660"/>
            <a:ext cx="1090837" cy="109083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99439" y="3732078"/>
            <a:ext cx="2491575" cy="2796762"/>
            <a:chOff x="0" y="0"/>
            <a:chExt cx="381314" cy="4280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192" cy="428020"/>
            </a:xfrm>
            <a:custGeom>
              <a:avLst/>
              <a:gdLst/>
              <a:ahLst/>
              <a:cxnLst/>
              <a:rect r="r" b="b" t="t" l="l"/>
              <a:pathLst>
                <a:path h="428020" w="365192">
                  <a:moveTo>
                    <a:pt x="137719" y="0"/>
                  </a:moveTo>
                  <a:lnTo>
                    <a:pt x="40394" y="0"/>
                  </a:lnTo>
                  <a:cubicBezTo>
                    <a:pt x="18085" y="0"/>
                    <a:pt x="0" y="18085"/>
                    <a:pt x="0" y="40394"/>
                  </a:cubicBezTo>
                  <a:lnTo>
                    <a:pt x="0" y="387626"/>
                  </a:lnTo>
                  <a:cubicBezTo>
                    <a:pt x="0" y="409935"/>
                    <a:pt x="18085" y="428020"/>
                    <a:pt x="40394" y="428020"/>
                  </a:cubicBezTo>
                  <a:lnTo>
                    <a:pt x="137719" y="428020"/>
                  </a:lnTo>
                  <a:cubicBezTo>
                    <a:pt x="163510" y="428020"/>
                    <a:pt x="188169" y="417429"/>
                    <a:pt x="205927" y="398727"/>
                  </a:cubicBezTo>
                  <a:lnTo>
                    <a:pt x="353500" y="243303"/>
                  </a:lnTo>
                  <a:cubicBezTo>
                    <a:pt x="369089" y="226885"/>
                    <a:pt x="369089" y="201135"/>
                    <a:pt x="353500" y="184717"/>
                  </a:cubicBezTo>
                  <a:lnTo>
                    <a:pt x="205927" y="29293"/>
                  </a:lnTo>
                  <a:cubicBezTo>
                    <a:pt x="188169" y="10590"/>
                    <a:pt x="163510" y="0"/>
                    <a:pt x="137719" y="0"/>
                  </a:cubicBezTo>
                  <a:close/>
                </a:path>
              </a:pathLst>
            </a:custGeom>
            <a:solidFill>
              <a:srgbClr val="FD862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67014" cy="44707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79755" y="3874409"/>
            <a:ext cx="2410809" cy="2512100"/>
            <a:chOff x="0" y="0"/>
            <a:chExt cx="381314" cy="3973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3745" cy="397334"/>
            </a:xfrm>
            <a:custGeom>
              <a:avLst/>
              <a:gdLst/>
              <a:ahLst/>
              <a:cxnLst/>
              <a:rect r="r" b="b" t="t" l="l"/>
              <a:pathLst>
                <a:path h="397334" w="363745">
                  <a:moveTo>
                    <a:pt x="136366" y="0"/>
                  </a:moveTo>
                  <a:lnTo>
                    <a:pt x="41747" y="0"/>
                  </a:lnTo>
                  <a:cubicBezTo>
                    <a:pt x="30675" y="0"/>
                    <a:pt x="20057" y="4398"/>
                    <a:pt x="12228" y="12228"/>
                  </a:cubicBezTo>
                  <a:cubicBezTo>
                    <a:pt x="4398" y="20057"/>
                    <a:pt x="0" y="30675"/>
                    <a:pt x="0" y="41747"/>
                  </a:cubicBezTo>
                  <a:lnTo>
                    <a:pt x="0" y="355587"/>
                  </a:lnTo>
                  <a:cubicBezTo>
                    <a:pt x="0" y="366659"/>
                    <a:pt x="4398" y="377278"/>
                    <a:pt x="12228" y="385107"/>
                  </a:cubicBezTo>
                  <a:cubicBezTo>
                    <a:pt x="20057" y="392936"/>
                    <a:pt x="30675" y="397334"/>
                    <a:pt x="41747" y="397334"/>
                  </a:cubicBezTo>
                  <a:lnTo>
                    <a:pt x="136366" y="397334"/>
                  </a:lnTo>
                  <a:cubicBezTo>
                    <a:pt x="163129" y="397334"/>
                    <a:pt x="188828" y="386859"/>
                    <a:pt x="207964" y="368149"/>
                  </a:cubicBezTo>
                  <a:lnTo>
                    <a:pt x="351463" y="227852"/>
                  </a:lnTo>
                  <a:cubicBezTo>
                    <a:pt x="359317" y="220173"/>
                    <a:pt x="363745" y="209652"/>
                    <a:pt x="363745" y="198667"/>
                  </a:cubicBezTo>
                  <a:cubicBezTo>
                    <a:pt x="363745" y="187683"/>
                    <a:pt x="359317" y="177161"/>
                    <a:pt x="351463" y="169482"/>
                  </a:cubicBezTo>
                  <a:lnTo>
                    <a:pt x="207964" y="29185"/>
                  </a:lnTo>
                  <a:cubicBezTo>
                    <a:pt x="188828" y="10476"/>
                    <a:pt x="163129" y="0"/>
                    <a:pt x="136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67014" cy="416384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0951901" y="3186660"/>
            <a:ext cx="1090837" cy="109083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3440" lIns="43440" bIns="43440" rIns="4344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06959" y="7334250"/>
            <a:ext cx="476250" cy="47625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236791" y="7334250"/>
            <a:ext cx="476250" cy="476250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570541" y="7334250"/>
            <a:ext cx="476250" cy="476250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904291" y="7334250"/>
            <a:ext cx="476250" cy="476250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238041" y="7334250"/>
            <a:ext cx="476250" cy="476250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AutoShape 63" id="63"/>
          <p:cNvSpPr/>
          <p:nvPr/>
        </p:nvSpPr>
        <p:spPr>
          <a:xfrm flipH="true" flipV="true">
            <a:off x="2138191" y="6635383"/>
            <a:ext cx="6892" cy="698867"/>
          </a:xfrm>
          <a:prstGeom prst="line">
            <a:avLst/>
          </a:prstGeom>
          <a:ln cap="flat" w="38100">
            <a:solidFill>
              <a:srgbClr val="145F4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 flipV="true">
            <a:off x="5468024" y="6635383"/>
            <a:ext cx="6892" cy="698867"/>
          </a:xfrm>
          <a:prstGeom prst="line">
            <a:avLst/>
          </a:prstGeom>
          <a:ln cap="flat" w="38100">
            <a:solidFill>
              <a:srgbClr val="2BA14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V="true">
            <a:off x="8808666" y="6635383"/>
            <a:ext cx="0" cy="698867"/>
          </a:xfrm>
          <a:prstGeom prst="line">
            <a:avLst/>
          </a:prstGeom>
          <a:ln cap="flat" w="38100">
            <a:solidFill>
              <a:srgbClr val="AFD243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12142416" y="6635383"/>
            <a:ext cx="0" cy="698867"/>
          </a:xfrm>
          <a:prstGeom prst="line">
            <a:avLst/>
          </a:prstGeom>
          <a:ln cap="flat" w="38100">
            <a:solidFill>
              <a:srgbClr val="FD862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15476166" y="6635383"/>
            <a:ext cx="0" cy="698867"/>
          </a:xfrm>
          <a:prstGeom prst="line">
            <a:avLst/>
          </a:prstGeom>
          <a:ln cap="flat" w="38100">
            <a:solidFill>
              <a:srgbClr val="BD214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8" id="68"/>
          <p:cNvSpPr/>
          <p:nvPr/>
        </p:nvSpPr>
        <p:spPr>
          <a:xfrm flipH="false" flipV="false" rot="0">
            <a:off x="1306484" y="3501590"/>
            <a:ext cx="410563" cy="445055"/>
          </a:xfrm>
          <a:custGeom>
            <a:avLst/>
            <a:gdLst/>
            <a:ahLst/>
            <a:cxnLst/>
            <a:rect r="r" b="b" t="t" l="l"/>
            <a:pathLst>
              <a:path h="445055" w="410563">
                <a:moveTo>
                  <a:pt x="0" y="0"/>
                </a:moveTo>
                <a:lnTo>
                  <a:pt x="410564" y="0"/>
                </a:lnTo>
                <a:lnTo>
                  <a:pt x="410564" y="445055"/>
                </a:lnTo>
                <a:lnTo>
                  <a:pt x="0" y="445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4555697" y="3458526"/>
            <a:ext cx="562955" cy="496808"/>
          </a:xfrm>
          <a:custGeom>
            <a:avLst/>
            <a:gdLst/>
            <a:ahLst/>
            <a:cxnLst/>
            <a:rect r="r" b="b" t="t" l="l"/>
            <a:pathLst>
              <a:path h="496808" w="562955">
                <a:moveTo>
                  <a:pt x="0" y="0"/>
                </a:moveTo>
                <a:lnTo>
                  <a:pt x="562955" y="0"/>
                </a:lnTo>
                <a:lnTo>
                  <a:pt x="562955" y="496808"/>
                </a:lnTo>
                <a:lnTo>
                  <a:pt x="0" y="49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7944863" y="3472342"/>
            <a:ext cx="427581" cy="484511"/>
          </a:xfrm>
          <a:custGeom>
            <a:avLst/>
            <a:gdLst/>
            <a:ahLst/>
            <a:cxnLst/>
            <a:rect r="r" b="b" t="t" l="l"/>
            <a:pathLst>
              <a:path h="484511" w="427581">
                <a:moveTo>
                  <a:pt x="0" y="0"/>
                </a:moveTo>
                <a:lnTo>
                  <a:pt x="427581" y="0"/>
                </a:lnTo>
                <a:lnTo>
                  <a:pt x="427581" y="484511"/>
                </a:lnTo>
                <a:lnTo>
                  <a:pt x="0" y="484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264261" y="3549598"/>
            <a:ext cx="473494" cy="462249"/>
          </a:xfrm>
          <a:custGeom>
            <a:avLst/>
            <a:gdLst/>
            <a:ahLst/>
            <a:cxnLst/>
            <a:rect r="r" b="b" t="t" l="l"/>
            <a:pathLst>
              <a:path h="462249" w="473494">
                <a:moveTo>
                  <a:pt x="0" y="0"/>
                </a:moveTo>
                <a:lnTo>
                  <a:pt x="473494" y="0"/>
                </a:lnTo>
                <a:lnTo>
                  <a:pt x="473494" y="462248"/>
                </a:lnTo>
                <a:lnTo>
                  <a:pt x="0" y="462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561136" y="3481576"/>
            <a:ext cx="537944" cy="447838"/>
          </a:xfrm>
          <a:custGeom>
            <a:avLst/>
            <a:gdLst/>
            <a:ahLst/>
            <a:cxnLst/>
            <a:rect r="r" b="b" t="t" l="l"/>
            <a:pathLst>
              <a:path h="447838" w="537944">
                <a:moveTo>
                  <a:pt x="0" y="0"/>
                </a:moveTo>
                <a:lnTo>
                  <a:pt x="537944" y="0"/>
                </a:lnTo>
                <a:lnTo>
                  <a:pt x="537944" y="447838"/>
                </a:lnTo>
                <a:lnTo>
                  <a:pt x="0" y="4478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Journey Recap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From problem identification to a realistic project baseline – Campus Coupon Phase 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49959" y="4493903"/>
            <a:ext cx="2418559" cy="44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Problem</a:t>
            </a:r>
          </a:p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Identified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49959" y="5085756"/>
            <a:ext cx="2190345" cy="70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Fragmented event communication &amp; low student engagement defined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679792" y="4493903"/>
            <a:ext cx="2418559" cy="44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</a:t>
            </a:r>
          </a:p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Engaged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679792" y="5085756"/>
            <a:ext cx="2190345" cy="70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 Development Officer confirmed &amp; requirements gathered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339458" y="4493903"/>
            <a:ext cx="2418559" cy="44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Scope &amp;</a:t>
            </a:r>
          </a:p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Feasibility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339458" y="5085756"/>
            <a:ext cx="2190345" cy="70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Project boundaries defined &amp; feasibility assessed across six dimensions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009625" y="4493903"/>
            <a:ext cx="2418559" cy="44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Requirements</a:t>
            </a:r>
          </a:p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Defined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009625" y="5085756"/>
            <a:ext cx="2190345" cy="70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Functional &amp; non-functional requirements documented in initial SRS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669291" y="4493903"/>
            <a:ext cx="2418559" cy="44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</a:t>
            </a:r>
          </a:p>
          <a:p>
            <a:pPr algn="l" marL="0" indent="0" lvl="0">
              <a:lnSpc>
                <a:spcPts val="1731"/>
              </a:lnSpc>
            </a:pPr>
            <a:r>
              <a:rPr lang="en-US" b="true" sz="1573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Baseline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669291" y="5085756"/>
            <a:ext cx="2190345" cy="70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7"/>
              </a:lnSpc>
            </a:pPr>
            <a:r>
              <a:rPr lang="en-US" sz="1377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Risks identified, MS Project plan established &amp; Phase 2 ready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The Value of the 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Designed outcomes for each stakeholder group – Campus Coupon's intended impact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08801" y="3312007"/>
            <a:ext cx="3154918" cy="2886750"/>
          </a:xfrm>
          <a:custGeom>
            <a:avLst/>
            <a:gdLst/>
            <a:ahLst/>
            <a:cxnLst/>
            <a:rect r="r" b="b" t="t" l="l"/>
            <a:pathLst>
              <a:path h="2886750" w="3154918">
                <a:moveTo>
                  <a:pt x="0" y="0"/>
                </a:moveTo>
                <a:lnTo>
                  <a:pt x="3154918" y="0"/>
                </a:lnTo>
                <a:lnTo>
                  <a:pt x="3154918" y="2886750"/>
                </a:lnTo>
                <a:lnTo>
                  <a:pt x="0" y="2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09030" y="3471201"/>
            <a:ext cx="764482" cy="419510"/>
          </a:xfrm>
          <a:custGeom>
            <a:avLst/>
            <a:gdLst/>
            <a:ahLst/>
            <a:cxnLst/>
            <a:rect r="r" b="b" t="t" l="l"/>
            <a:pathLst>
              <a:path h="419510" w="764482">
                <a:moveTo>
                  <a:pt x="0" y="0"/>
                </a:moveTo>
                <a:lnTo>
                  <a:pt x="764482" y="0"/>
                </a:lnTo>
                <a:lnTo>
                  <a:pt x="764482" y="419510"/>
                </a:lnTo>
                <a:lnTo>
                  <a:pt x="0" y="41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3105" y="3916184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For 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3105" y="4317537"/>
            <a:ext cx="2095727" cy="122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Better event visibility, RSVP convenience, and attendance-based rewards through a centralised platform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36345" y="4769715"/>
            <a:ext cx="3240617" cy="3074535"/>
          </a:xfrm>
          <a:custGeom>
            <a:avLst/>
            <a:gdLst/>
            <a:ahLst/>
            <a:cxnLst/>
            <a:rect r="r" b="b" t="t" l="l"/>
            <a:pathLst>
              <a:path h="3074535" w="3240617">
                <a:moveTo>
                  <a:pt x="0" y="0"/>
                </a:moveTo>
                <a:lnTo>
                  <a:pt x="3240617" y="0"/>
                </a:lnTo>
                <a:lnTo>
                  <a:pt x="3240617" y="3074535"/>
                </a:lnTo>
                <a:lnTo>
                  <a:pt x="0" y="3074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44448" y="5438992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For Event Administrators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4448" y="5840345"/>
            <a:ext cx="2095727" cy="9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Centralised event management, RSVP visibility, and streamlined attendance verification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32987" y="3175942"/>
            <a:ext cx="3431915" cy="3213131"/>
          </a:xfrm>
          <a:custGeom>
            <a:avLst/>
            <a:gdLst/>
            <a:ahLst/>
            <a:cxnLst/>
            <a:rect r="r" b="b" t="t" l="l"/>
            <a:pathLst>
              <a:path h="3213131" w="3431915">
                <a:moveTo>
                  <a:pt x="0" y="0"/>
                </a:moveTo>
                <a:lnTo>
                  <a:pt x="3431915" y="0"/>
                </a:lnTo>
                <a:lnTo>
                  <a:pt x="3431915" y="3213130"/>
                </a:lnTo>
                <a:lnTo>
                  <a:pt x="0" y="3213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6167" y="3916184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For CUT Cafeteria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6167" y="4317537"/>
            <a:ext cx="2095727" cy="9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Controlled reward redemption, traceable coupon transactions, and participation insights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51213" y="4787681"/>
            <a:ext cx="3421938" cy="2968531"/>
          </a:xfrm>
          <a:custGeom>
            <a:avLst/>
            <a:gdLst/>
            <a:ahLst/>
            <a:cxnLst/>
            <a:rect r="r" b="b" t="t" l="l"/>
            <a:pathLst>
              <a:path h="2968531" w="3421938">
                <a:moveTo>
                  <a:pt x="0" y="0"/>
                </a:moveTo>
                <a:lnTo>
                  <a:pt x="3421938" y="0"/>
                </a:lnTo>
                <a:lnTo>
                  <a:pt x="3421938" y="2968531"/>
                </a:lnTo>
                <a:lnTo>
                  <a:pt x="0" y="2968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57509" y="5438992"/>
            <a:ext cx="235232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b="true" sz="1598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For CUT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57509" y="5840345"/>
            <a:ext cx="2095727" cy="9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Improved participation data, governance oversight, and operational insight into campus engagement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90508" y="4992369"/>
            <a:ext cx="389783" cy="380276"/>
          </a:xfrm>
          <a:custGeom>
            <a:avLst/>
            <a:gdLst/>
            <a:ahLst/>
            <a:cxnLst/>
            <a:rect r="r" b="b" t="t" l="l"/>
            <a:pathLst>
              <a:path h="380276" w="389783">
                <a:moveTo>
                  <a:pt x="0" y="0"/>
                </a:moveTo>
                <a:lnTo>
                  <a:pt x="389783" y="0"/>
                </a:lnTo>
                <a:lnTo>
                  <a:pt x="389783" y="380276"/>
                </a:lnTo>
                <a:lnTo>
                  <a:pt x="0" y="3802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11426" y="3370876"/>
            <a:ext cx="471439" cy="590135"/>
          </a:xfrm>
          <a:custGeom>
            <a:avLst/>
            <a:gdLst/>
            <a:ahLst/>
            <a:cxnLst/>
            <a:rect r="r" b="b" t="t" l="l"/>
            <a:pathLst>
              <a:path h="590135" w="471439">
                <a:moveTo>
                  <a:pt x="0" y="0"/>
                </a:moveTo>
                <a:lnTo>
                  <a:pt x="471439" y="0"/>
                </a:lnTo>
                <a:lnTo>
                  <a:pt x="471439" y="590135"/>
                </a:lnTo>
                <a:lnTo>
                  <a:pt x="0" y="5901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91778" y="4941563"/>
            <a:ext cx="498609" cy="413133"/>
          </a:xfrm>
          <a:custGeom>
            <a:avLst/>
            <a:gdLst/>
            <a:ahLst/>
            <a:cxnLst/>
            <a:rect r="r" b="b" t="t" l="l"/>
            <a:pathLst>
              <a:path h="413133" w="498609">
                <a:moveTo>
                  <a:pt x="0" y="0"/>
                </a:moveTo>
                <a:lnTo>
                  <a:pt x="498609" y="0"/>
                </a:lnTo>
                <a:lnTo>
                  <a:pt x="498609" y="413133"/>
                </a:lnTo>
                <a:lnTo>
                  <a:pt x="0" y="4131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9890" y="3073717"/>
            <a:ext cx="4762908" cy="4697418"/>
          </a:xfrm>
          <a:custGeom>
            <a:avLst/>
            <a:gdLst/>
            <a:ahLst/>
            <a:cxnLst/>
            <a:rect r="r" b="b" t="t" l="l"/>
            <a:pathLst>
              <a:path h="4697418" w="4762908">
                <a:moveTo>
                  <a:pt x="0" y="0"/>
                </a:moveTo>
                <a:lnTo>
                  <a:pt x="4762908" y="0"/>
                </a:lnTo>
                <a:lnTo>
                  <a:pt x="4762908" y="4697417"/>
                </a:lnTo>
                <a:lnTo>
                  <a:pt x="0" y="4697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24036" y="866775"/>
            <a:ext cx="13239928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</a:pPr>
            <a:r>
              <a:rPr lang="en-US" b="true" sz="4496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Phase 1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09031" y="1866052"/>
            <a:ext cx="9069938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From Problem Identification to a Realistic Project Baseline.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15891" y="315497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Problem Identified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5891" y="3543579"/>
            <a:ext cx="2418559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Fragmented event communication and low student engagement confirmed as real campus challenges.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39250" y="3067090"/>
            <a:ext cx="396149" cy="39614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F4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1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9618345" y="3049090"/>
            <a:ext cx="0" cy="432149"/>
          </a:xfrm>
          <a:prstGeom prst="line">
            <a:avLst/>
          </a:prstGeom>
          <a:ln cap="rnd" w="38100">
            <a:solidFill>
              <a:srgbClr val="145F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175319" y="3154975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Scope &amp; Feasibility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75319" y="3543579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Project boundaries defined; technical, operational, and schedule feasibility assessed and confirmed.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98678" y="3067090"/>
            <a:ext cx="396149" cy="3961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4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3777773" y="3049090"/>
            <a:ext cx="0" cy="432149"/>
          </a:xfrm>
          <a:prstGeom prst="line">
            <a:avLst/>
          </a:prstGeom>
          <a:ln cap="rnd" w="38100">
            <a:solidFill>
              <a:srgbClr val="FD86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015891" y="472198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Stakeholder Engaged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15891" y="5110593"/>
            <a:ext cx="2418559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Student Development Officer confirmed; requirements gathered and documented with formal sign-off evidence.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50" y="4634104"/>
            <a:ext cx="396149" cy="39614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2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9618345" y="4616104"/>
            <a:ext cx="0" cy="432149"/>
          </a:xfrm>
          <a:prstGeom prst="line">
            <a:avLst/>
          </a:prstGeom>
          <a:ln cap="rnd" w="38100">
            <a:solidFill>
              <a:srgbClr val="2BA1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4175319" y="4721989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Risks &amp; Project Plan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75319" y="5110593"/>
            <a:ext cx="241855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Key risks identified with mitigations; Microsoft Project schedule and GitHub repository established.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398678" y="4634104"/>
            <a:ext cx="396149" cy="39614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5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777773" y="4616104"/>
            <a:ext cx="0" cy="432149"/>
          </a:xfrm>
          <a:prstGeom prst="line">
            <a:avLst/>
          </a:prstGeom>
          <a:ln cap="rnd" w="38100">
            <a:solidFill>
              <a:srgbClr val="BD21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015891" y="6289003"/>
            <a:ext cx="2418559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b="true" sz="1371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Requirements &amp; Technology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15891" y="6677607"/>
            <a:ext cx="2418559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Core functional requirements documented in SRS; Flutter, ASP.NET, and Supabase stack confirmed.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39250" y="6201118"/>
            <a:ext cx="396149" cy="39614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3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9618345" y="6183118"/>
            <a:ext cx="0" cy="432149"/>
          </a:xfrm>
          <a:prstGeom prst="line">
            <a:avLst/>
          </a:prstGeom>
          <a:ln cap="rnd" w="38100">
            <a:solidFill>
              <a:srgbClr val="AFD2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5074582" y="2858816"/>
            <a:ext cx="372227" cy="429673"/>
          </a:xfrm>
          <a:custGeom>
            <a:avLst/>
            <a:gdLst/>
            <a:ahLst/>
            <a:cxnLst/>
            <a:rect r="r" b="b" t="t" l="l"/>
            <a:pathLst>
              <a:path h="429673" w="372227">
                <a:moveTo>
                  <a:pt x="0" y="0"/>
                </a:moveTo>
                <a:lnTo>
                  <a:pt x="372227" y="0"/>
                </a:lnTo>
                <a:lnTo>
                  <a:pt x="372227" y="429673"/>
                </a:lnTo>
                <a:lnTo>
                  <a:pt x="0" y="429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152931" y="4536267"/>
            <a:ext cx="610791" cy="357313"/>
          </a:xfrm>
          <a:custGeom>
            <a:avLst/>
            <a:gdLst/>
            <a:ahLst/>
            <a:cxnLst/>
            <a:rect r="r" b="b" t="t" l="l"/>
            <a:pathLst>
              <a:path h="357313" w="610791">
                <a:moveTo>
                  <a:pt x="0" y="0"/>
                </a:moveTo>
                <a:lnTo>
                  <a:pt x="610791" y="0"/>
                </a:lnTo>
                <a:lnTo>
                  <a:pt x="610791" y="357313"/>
                </a:lnTo>
                <a:lnTo>
                  <a:pt x="0" y="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460340" y="7043700"/>
            <a:ext cx="336869" cy="422617"/>
          </a:xfrm>
          <a:custGeom>
            <a:avLst/>
            <a:gdLst/>
            <a:ahLst/>
            <a:cxnLst/>
            <a:rect r="r" b="b" t="t" l="l"/>
            <a:pathLst>
              <a:path h="422617" w="336869">
                <a:moveTo>
                  <a:pt x="0" y="0"/>
                </a:moveTo>
                <a:lnTo>
                  <a:pt x="336869" y="0"/>
                </a:lnTo>
                <a:lnTo>
                  <a:pt x="336869" y="422617"/>
                </a:lnTo>
                <a:lnTo>
                  <a:pt x="0" y="422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720418" y="7059900"/>
            <a:ext cx="364001" cy="456874"/>
          </a:xfrm>
          <a:custGeom>
            <a:avLst/>
            <a:gdLst/>
            <a:ahLst/>
            <a:cxnLst/>
            <a:rect r="r" b="b" t="t" l="l"/>
            <a:pathLst>
              <a:path h="456874" w="364001">
                <a:moveTo>
                  <a:pt x="0" y="0"/>
                </a:moveTo>
                <a:lnTo>
                  <a:pt x="364001" y="0"/>
                </a:lnTo>
                <a:lnTo>
                  <a:pt x="364001" y="456874"/>
                </a:lnTo>
                <a:lnTo>
                  <a:pt x="0" y="456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874813" y="4393506"/>
            <a:ext cx="436098" cy="437634"/>
          </a:xfrm>
          <a:custGeom>
            <a:avLst/>
            <a:gdLst/>
            <a:ahLst/>
            <a:cxnLst/>
            <a:rect r="r" b="b" t="t" l="l"/>
            <a:pathLst>
              <a:path h="437634" w="436098">
                <a:moveTo>
                  <a:pt x="0" y="0"/>
                </a:moveTo>
                <a:lnTo>
                  <a:pt x="436098" y="0"/>
                </a:lnTo>
                <a:lnTo>
                  <a:pt x="436098" y="437633"/>
                </a:lnTo>
                <a:lnTo>
                  <a:pt x="0" y="43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91625" y="595532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0" y="0"/>
                </a:moveTo>
                <a:lnTo>
                  <a:pt x="2185917" y="0"/>
                </a:lnTo>
                <a:lnTo>
                  <a:pt x="2185917" y="2185916"/>
                </a:lnTo>
                <a:lnTo>
                  <a:pt x="0" y="2185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910458" y="366976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0" y="0"/>
                </a:moveTo>
                <a:lnTo>
                  <a:pt x="2185917" y="0"/>
                </a:lnTo>
                <a:lnTo>
                  <a:pt x="2185917" y="2185916"/>
                </a:lnTo>
                <a:lnTo>
                  <a:pt x="0" y="2185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910458" y="595532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2185917" y="0"/>
                </a:moveTo>
                <a:lnTo>
                  <a:pt x="0" y="0"/>
                </a:lnTo>
                <a:lnTo>
                  <a:pt x="0" y="2185916"/>
                </a:lnTo>
                <a:lnTo>
                  <a:pt x="2185917" y="2185916"/>
                </a:lnTo>
                <a:lnTo>
                  <a:pt x="21859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9191625" y="3669762"/>
            <a:ext cx="2185917" cy="2185917"/>
          </a:xfrm>
          <a:custGeom>
            <a:avLst/>
            <a:gdLst/>
            <a:ahLst/>
            <a:cxnLst/>
            <a:rect r="r" b="b" t="t" l="l"/>
            <a:pathLst>
              <a:path h="2185917" w="2185917">
                <a:moveTo>
                  <a:pt x="2185917" y="0"/>
                </a:moveTo>
                <a:lnTo>
                  <a:pt x="0" y="0"/>
                </a:lnTo>
                <a:lnTo>
                  <a:pt x="0" y="2185916"/>
                </a:lnTo>
                <a:lnTo>
                  <a:pt x="2185917" y="2185916"/>
                </a:lnTo>
                <a:lnTo>
                  <a:pt x="21859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4036" y="866775"/>
            <a:ext cx="132399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09031" y="1866052"/>
            <a:ext cx="90699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sz="1799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CAMPUS COUPON – ITC327W – Phase 1 Presentation &amp; Defence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139542" y="3838217"/>
            <a:ext cx="440085" cy="4400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D24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9"/>
                </a:lnSpc>
              </a:pPr>
              <a:r>
                <a:rPr lang="en-US" b="true" sz="1599">
                  <a:solidFill>
                    <a:srgbClr val="000000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08373" y="3838217"/>
            <a:ext cx="440085" cy="4400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A1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139542" y="4559480"/>
            <a:ext cx="2418559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9"/>
              </a:lnSpc>
            </a:pPr>
            <a:r>
              <a:rPr lang="en-US" b="true" sz="159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Institution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29899" y="4559480"/>
            <a:ext cx="2418559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9"/>
              </a:lnSpc>
            </a:pPr>
            <a:r>
              <a:rPr lang="en-US" b="true" sz="159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Our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39542" y="4960833"/>
            <a:ext cx="3216610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</a:pPr>
            <a:r>
              <a:rPr lang="en-US" sz="14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Central University of Technology – Welkom Campus.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1848" y="4960833"/>
            <a:ext cx="3216610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</a:pPr>
            <a:r>
              <a:rPr lang="en-US" sz="14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Prominent Programmers (Pty) Ltd – ITC327W Phase 1 Project Team.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39542" y="6123777"/>
            <a:ext cx="440085" cy="44008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86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08373" y="6123777"/>
            <a:ext cx="440085" cy="44008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21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39"/>
                </a:lnSpc>
              </a:pPr>
              <a:r>
                <a:rPr lang="en-US" b="true" sz="1599">
                  <a:solidFill>
                    <a:srgbClr val="FFFFFF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139542" y="6845040"/>
            <a:ext cx="2418559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9"/>
              </a:lnSpc>
            </a:pPr>
            <a:r>
              <a:rPr lang="en-US" b="true" sz="159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Questions &amp; Discussion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9899" y="6845040"/>
            <a:ext cx="2418559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9"/>
              </a:lnSpc>
            </a:pPr>
            <a:r>
              <a:rPr lang="en-US" b="true" sz="1599">
                <a:solidFill>
                  <a:srgbClr val="000000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39542" y="7246393"/>
            <a:ext cx="3216610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</a:pPr>
            <a:r>
              <a:rPr lang="en-US" sz="14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We welcome your questions, feedback, and engagement from the panel.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31848" y="7246393"/>
            <a:ext cx="3216610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</a:pPr>
            <a:r>
              <a:rPr lang="en-US" sz="1400">
                <a:solidFill>
                  <a:srgbClr val="545454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Campus Coupon – Centralised Event Engagement Platform.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585899" y="4443683"/>
            <a:ext cx="876014" cy="600070"/>
          </a:xfrm>
          <a:custGeom>
            <a:avLst/>
            <a:gdLst/>
            <a:ahLst/>
            <a:cxnLst/>
            <a:rect r="r" b="b" t="t" l="l"/>
            <a:pathLst>
              <a:path h="600070" w="876014">
                <a:moveTo>
                  <a:pt x="0" y="0"/>
                </a:moveTo>
                <a:lnTo>
                  <a:pt x="876014" y="0"/>
                </a:lnTo>
                <a:lnTo>
                  <a:pt x="876014" y="600070"/>
                </a:lnTo>
                <a:lnTo>
                  <a:pt x="0" y="600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784998" y="4377984"/>
            <a:ext cx="927725" cy="637725"/>
          </a:xfrm>
          <a:custGeom>
            <a:avLst/>
            <a:gdLst/>
            <a:ahLst/>
            <a:cxnLst/>
            <a:rect r="r" b="b" t="t" l="l"/>
            <a:pathLst>
              <a:path h="637725" w="927725">
                <a:moveTo>
                  <a:pt x="0" y="0"/>
                </a:moveTo>
                <a:lnTo>
                  <a:pt x="927725" y="0"/>
                </a:lnTo>
                <a:lnTo>
                  <a:pt x="927725" y="637725"/>
                </a:lnTo>
                <a:lnTo>
                  <a:pt x="0" y="6377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972301" y="6816963"/>
            <a:ext cx="653961" cy="506002"/>
          </a:xfrm>
          <a:custGeom>
            <a:avLst/>
            <a:gdLst/>
            <a:ahLst/>
            <a:cxnLst/>
            <a:rect r="r" b="b" t="t" l="l"/>
            <a:pathLst>
              <a:path h="506002" w="653961">
                <a:moveTo>
                  <a:pt x="0" y="0"/>
                </a:moveTo>
                <a:lnTo>
                  <a:pt x="653961" y="0"/>
                </a:lnTo>
                <a:lnTo>
                  <a:pt x="653961" y="506002"/>
                </a:lnTo>
                <a:lnTo>
                  <a:pt x="0" y="5060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758093" y="6709245"/>
            <a:ext cx="672782" cy="688268"/>
          </a:xfrm>
          <a:custGeom>
            <a:avLst/>
            <a:gdLst/>
            <a:ahLst/>
            <a:cxnLst/>
            <a:rect r="r" b="b" t="t" l="l"/>
            <a:pathLst>
              <a:path h="688268" w="672782">
                <a:moveTo>
                  <a:pt x="0" y="0"/>
                </a:moveTo>
                <a:lnTo>
                  <a:pt x="672782" y="0"/>
                </a:lnTo>
                <a:lnTo>
                  <a:pt x="672782" y="688268"/>
                </a:lnTo>
                <a:lnTo>
                  <a:pt x="0" y="6882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DAHT3RVRv2I</dc:identifier>
  <dcterms:modified xsi:type="dcterms:W3CDTF">2011-08-01T06:04:30Z</dcterms:modified>
  <cp:revision>1</cp:revision>
  <dc:title>Campus Coupon Phase 1</dc:title>
</cp:coreProperties>
</file>